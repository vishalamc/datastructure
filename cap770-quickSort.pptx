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14"/>
  </p:notesMasterIdLst>
  <p:handoutMasterIdLst>
    <p:handoutMasterId r:id="rId15"/>
  </p:handoutMasterIdLst>
  <p:sldIdLst>
    <p:sldId id="269" r:id="rId2"/>
    <p:sldId id="355" r:id="rId3"/>
    <p:sldId id="354" r:id="rId4"/>
    <p:sldId id="356" r:id="rId5"/>
    <p:sldId id="357" r:id="rId6"/>
    <p:sldId id="360" r:id="rId7"/>
    <p:sldId id="361" r:id="rId8"/>
    <p:sldId id="362" r:id="rId9"/>
    <p:sldId id="363" r:id="rId10"/>
    <p:sldId id="359" r:id="rId11"/>
    <p:sldId id="358" r:id="rId12"/>
    <p:sldId id="35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8" d="100"/>
          <a:sy n="68" d="100"/>
        </p:scale>
        <p:origin x="936" y="-24"/>
      </p:cViewPr>
      <p:guideLst>
        <p:guide orient="horz" pos="2160"/>
        <p:guide pos="2880"/>
      </p:guideLst>
    </p:cSldViewPr>
  </p:slideViewPr>
  <p:notesTextViewPr>
    <p:cViewPr>
      <p:scale>
        <a:sx n="1" d="1"/>
        <a:sy n="1" d="1"/>
      </p:scale>
      <p:origin x="0" y="0"/>
    </p:cViewPr>
  </p:notesTextViewPr>
  <p:notesViewPr>
    <p:cSldViewPr>
      <p:cViewPr varScale="1">
        <p:scale>
          <a:sx n="60" d="100"/>
          <a:sy n="60" d="100"/>
        </p:scale>
        <p:origin x="-273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BF3176-BDCC-49EA-B30D-5437BB8C7604}" type="datetimeFigureOut">
              <a:rPr lang="en-US" smtClean="0"/>
              <a:pPr/>
              <a:t>3/1/2021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227CDD-B970-4E95-B4CD-CAD47DE6DC57}" type="slidenum">
              <a:rPr lang="en-US" smtClean="0"/>
              <a:pPr/>
              <a:t>‹#›</a:t>
            </a:fld>
            <a:endParaRPr lang="en-US"/>
          </a:p>
        </p:txBody>
      </p:sp>
    </p:spTree>
    <p:extLst>
      <p:ext uri="{BB962C8B-B14F-4D97-AF65-F5344CB8AC3E}">
        <p14:creationId xmlns:p14="http://schemas.microsoft.com/office/powerpoint/2010/main" val="12811844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AB7907-3328-40C6-81DC-094447F4187C}" type="datetimeFigureOut">
              <a:rPr lang="en-US" smtClean="0"/>
              <a:pPr/>
              <a:t>3/1/2021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FFCBBA-87C4-482A-9ED2-FD5CC3AE6FAA}" type="slidenum">
              <a:rPr lang="en-US" smtClean="0"/>
              <a:pPr/>
              <a:t>‹#›</a:t>
            </a:fld>
            <a:endParaRPr lang="en-US"/>
          </a:p>
        </p:txBody>
      </p:sp>
    </p:spTree>
    <p:extLst>
      <p:ext uri="{BB962C8B-B14F-4D97-AF65-F5344CB8AC3E}">
        <p14:creationId xmlns:p14="http://schemas.microsoft.com/office/powerpoint/2010/main" val="1721297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lstStyle>
            <a:lvl1pPr>
              <a:defRPr sz="4400"/>
            </a:lvl1pPr>
          </a:lstStyle>
          <a:p>
            <a:r>
              <a:rPr lang="en-US" sz="4800" dirty="0"/>
              <a:t>CAP770-Lec#0</a:t>
            </a:r>
            <a:endParaRPr lang="en-US" dirty="0"/>
          </a:p>
        </p:txBody>
      </p:sp>
      <p:sp>
        <p:nvSpPr>
          <p:cNvPr id="3" name="Subtitle 2"/>
          <p:cNvSpPr>
            <a:spLocks noGrp="1"/>
          </p:cNvSpPr>
          <p:nvPr>
            <p:ph type="subTitle" idx="1"/>
          </p:nvPr>
        </p:nvSpPr>
        <p:spPr>
          <a:xfrm>
            <a:off x="838200" y="3429000"/>
            <a:ext cx="7086600" cy="1752600"/>
          </a:xfrm>
        </p:spPr>
        <p:txBody>
          <a:bodyPr/>
          <a:lstStyle>
            <a:lvl1pPr marL="0" indent="0" algn="l">
              <a:buNone/>
              <a:defRPr>
                <a:solidFill>
                  <a:srgbClr val="C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cxnSp>
        <p:nvCxnSpPr>
          <p:cNvPr id="7" name="Straight Connector 6"/>
          <p:cNvCxnSpPr/>
          <p:nvPr/>
        </p:nvCxnSpPr>
        <p:spPr>
          <a:xfrm>
            <a:off x="839322" y="3352800"/>
            <a:ext cx="7056784" cy="0"/>
          </a:xfrm>
          <a:prstGeom prst="line">
            <a:avLst/>
          </a:prstGeom>
          <a:ln>
            <a:solidFill>
              <a:schemeClr val="accent6"/>
            </a:solidFill>
          </a:ln>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a:off x="839322" y="3352800"/>
            <a:ext cx="7056784" cy="0"/>
          </a:xfrm>
          <a:prstGeom prst="line">
            <a:avLst/>
          </a:prstGeom>
          <a:ln>
            <a:solidFill>
              <a:schemeClr val="accent6"/>
            </a:solidFill>
          </a:ln>
        </p:spPr>
        <p:style>
          <a:lnRef idx="3">
            <a:schemeClr val="accent6"/>
          </a:lnRef>
          <a:fillRef idx="0">
            <a:schemeClr val="accent6"/>
          </a:fillRef>
          <a:effectRef idx="2">
            <a:schemeClr val="accent6"/>
          </a:effectRef>
          <a:fontRef idx="minor">
            <a:schemeClr val="tx1"/>
          </a:fontRef>
        </p:style>
      </p:cxn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Subtitle 2"/>
          <p:cNvSpPr txBox="1">
            <a:spLocks/>
          </p:cNvSpPr>
          <p:nvPr/>
        </p:nvSpPr>
        <p:spPr>
          <a:xfrm>
            <a:off x="1375935" y="3886200"/>
            <a:ext cx="6400800" cy="17526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rgbClr val="C00000"/>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cxnSp>
        <p:nvCxnSpPr>
          <p:cNvPr id="14" name="Straight Connector 13"/>
          <p:cNvCxnSpPr/>
          <p:nvPr/>
        </p:nvCxnSpPr>
        <p:spPr>
          <a:xfrm>
            <a:off x="1043608" y="3352800"/>
            <a:ext cx="7056784" cy="0"/>
          </a:xfrm>
          <a:prstGeom prst="line">
            <a:avLst/>
          </a:prstGeom>
          <a:ln>
            <a:solidFill>
              <a:schemeClr val="accent5"/>
            </a:solidFill>
          </a:ln>
        </p:spPr>
        <p:style>
          <a:lnRef idx="3">
            <a:schemeClr val="accent6"/>
          </a:lnRef>
          <a:fillRef idx="0">
            <a:schemeClr val="accent6"/>
          </a:fillRef>
          <a:effectRef idx="2">
            <a:schemeClr val="accent6"/>
          </a:effectRef>
          <a:fontRef idx="minor">
            <a:schemeClr val="tx1"/>
          </a:fontRef>
        </p:style>
      </p:cxnSp>
      <p:pic>
        <p:nvPicPr>
          <p:cNvPr id="1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Subtitle 2"/>
          <p:cNvSpPr txBox="1">
            <a:spLocks/>
          </p:cNvSpPr>
          <p:nvPr userDrawn="1"/>
        </p:nvSpPr>
        <p:spPr>
          <a:xfrm>
            <a:off x="1375935" y="3886200"/>
            <a:ext cx="6400800" cy="17526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rgbClr val="C00000"/>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cxnSp>
        <p:nvCxnSpPr>
          <p:cNvPr id="16" name="Straight Connector 15"/>
          <p:cNvCxnSpPr/>
          <p:nvPr userDrawn="1"/>
        </p:nvCxnSpPr>
        <p:spPr>
          <a:xfrm>
            <a:off x="1043608" y="3352800"/>
            <a:ext cx="7056784" cy="0"/>
          </a:xfrm>
          <a:prstGeom prst="line">
            <a:avLst/>
          </a:prstGeom>
          <a:ln>
            <a:solidFill>
              <a:schemeClr val="accent5"/>
            </a:solidFill>
          </a:ln>
        </p:spPr>
        <p:style>
          <a:lnRef idx="3">
            <a:schemeClr val="accent6"/>
          </a:lnRef>
          <a:fillRef idx="0">
            <a:schemeClr val="accent6"/>
          </a:fillRef>
          <a:effectRef idx="2">
            <a:schemeClr val="accent6"/>
          </a:effectRef>
          <a:fontRef idx="minor">
            <a:schemeClr val="tx1"/>
          </a:fontRef>
        </p:style>
      </p:cxnSp>
      <p:sp>
        <p:nvSpPr>
          <p:cNvPr id="17" name="TextBox 16"/>
          <p:cNvSpPr txBox="1"/>
          <p:nvPr userDrawn="1"/>
        </p:nvSpPr>
        <p:spPr>
          <a:xfrm>
            <a:off x="4556070" y="5562600"/>
            <a:ext cx="4572000" cy="1015663"/>
          </a:xfrm>
          <a:prstGeom prst="rect">
            <a:avLst/>
          </a:prstGeom>
          <a:noFill/>
        </p:spPr>
        <p:txBody>
          <a:bodyPr wrap="square" rtlCol="0">
            <a:spAutoFit/>
          </a:bodyPr>
          <a:lstStyle/>
          <a:p>
            <a:pPr algn="r"/>
            <a:r>
              <a:rPr lang="en-US" sz="2000" b="0" dirty="0">
                <a:solidFill>
                  <a:srgbClr val="002060"/>
                </a:solidFill>
                <a:latin typeface="Arial Rounded MT Bold" pitchFamily="34" charset="0"/>
              </a:rPr>
              <a:t>Created By: 		</a:t>
            </a:r>
          </a:p>
          <a:p>
            <a:pPr algn="r"/>
            <a:r>
              <a:rPr lang="en-US" sz="2000" b="0" dirty="0">
                <a:solidFill>
                  <a:srgbClr val="002060"/>
                </a:solidFill>
                <a:latin typeface="Arial Rounded MT Bold" pitchFamily="34" charset="0"/>
              </a:rPr>
              <a:t>Kumar Vishal</a:t>
            </a:r>
          </a:p>
          <a:p>
            <a:pPr algn="r"/>
            <a:r>
              <a:rPr lang="en-US" sz="2000" b="0" dirty="0">
                <a:solidFill>
                  <a:srgbClr val="002060"/>
                </a:solidFill>
                <a:latin typeface="Arial Rounded MT Bold" pitchFamily="34" charset="0"/>
              </a:rPr>
              <a:t>		(SCA),</a:t>
            </a:r>
            <a:r>
              <a:rPr lang="en-US" sz="2000" b="0" baseline="0" dirty="0">
                <a:solidFill>
                  <a:srgbClr val="002060"/>
                </a:solidFill>
                <a:latin typeface="Arial Rounded MT Bold" pitchFamily="34" charset="0"/>
              </a:rPr>
              <a:t> LPU</a:t>
            </a:r>
            <a:endParaRPr lang="en-US" sz="2000" b="0" dirty="0">
              <a:solidFill>
                <a:srgbClr val="002060"/>
              </a:solidFill>
              <a:latin typeface="Arial Rounded MT Bold"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635818"/>
            <a:ext cx="1808162" cy="32972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itle 1"/>
          <p:cNvSpPr txBox="1">
            <a:spLocks/>
          </p:cNvSpPr>
          <p:nvPr/>
        </p:nvSpPr>
        <p:spPr>
          <a:xfrm>
            <a:off x="1953250" y="5958408"/>
            <a:ext cx="7155254" cy="89959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endParaRPr lang="en-IN" sz="1400" dirty="0">
              <a:solidFill>
                <a:schemeClr val="tx1">
                  <a:lumMod val="65000"/>
                  <a:lumOff val="35000"/>
                </a:schemeClr>
              </a:solidFill>
            </a:endParaRPr>
          </a:p>
        </p:txBody>
      </p:sp>
      <p:cxnSp>
        <p:nvCxnSpPr>
          <p:cNvPr id="9" name="Straight Connector 8"/>
          <p:cNvCxnSpPr/>
          <p:nvPr/>
        </p:nvCxnSpPr>
        <p:spPr>
          <a:xfrm>
            <a:off x="755576" y="4077072"/>
            <a:ext cx="7056784" cy="0"/>
          </a:xfrm>
          <a:prstGeom prst="line">
            <a:avLst/>
          </a:prstGeom>
        </p:spPr>
        <p:style>
          <a:lnRef idx="3">
            <a:schemeClr val="accent6"/>
          </a:lnRef>
          <a:fillRef idx="0">
            <a:schemeClr val="accent6"/>
          </a:fillRef>
          <a:effectRef idx="2">
            <a:schemeClr val="accent6"/>
          </a:effectRef>
          <a:fontRef idx="minor">
            <a:schemeClr val="tx1"/>
          </a:fontRef>
        </p:style>
      </p:cxnSp>
      <p:sp>
        <p:nvSpPr>
          <p:cNvPr id="10" name="Title 1"/>
          <p:cNvSpPr>
            <a:spLocks noGrp="1"/>
          </p:cNvSpPr>
          <p:nvPr>
            <p:ph type="title" hasCustomPrompt="1"/>
          </p:nvPr>
        </p:nvSpPr>
        <p:spPr>
          <a:xfrm>
            <a:off x="685800" y="4114800"/>
            <a:ext cx="7155254" cy="1600200"/>
          </a:xfrm>
        </p:spPr>
        <p:txBody>
          <a:bodyPr anchor="t">
            <a:noAutofit/>
          </a:bodyPr>
          <a:lstStyle>
            <a:lvl1pPr algn="r">
              <a:defRPr>
                <a:solidFill>
                  <a:srgbClr val="C00000"/>
                </a:solidFill>
              </a:defRPr>
            </a:lvl1pPr>
          </a:lstStyle>
          <a:p>
            <a:pPr algn="r"/>
            <a:r>
              <a:rPr lang="en-US" sz="3600" dirty="0">
                <a:solidFill>
                  <a:srgbClr val="C00000"/>
                </a:solidFill>
              </a:rPr>
              <a:t>Next Class:</a:t>
            </a:r>
            <a:endParaRPr lang="en-IN" sz="1400" dirty="0">
              <a:solidFill>
                <a:schemeClr val="tx1">
                  <a:lumMod val="95000"/>
                  <a:lumOff val="5000"/>
                </a:scheme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244"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6" name="Content Placeholder 5"/>
          <p:cNvSpPr>
            <a:spLocks noGrp="1"/>
          </p:cNvSpPr>
          <p:nvPr>
            <p:ph sz="quarter" idx="12"/>
          </p:nvPr>
        </p:nvSpPr>
        <p:spPr>
          <a:xfrm>
            <a:off x="0" y="685800"/>
            <a:ext cx="6400800" cy="5486400"/>
          </a:xfrm>
          <a:solidFill>
            <a:srgbClr val="FFE593"/>
          </a:solidFill>
        </p:spPr>
        <p:txBody>
          <a:bodyPr>
            <a:normAutofit/>
          </a:bodyPr>
          <a:lstStyle>
            <a:lvl1pPr marL="0" indent="0">
              <a:spcBef>
                <a:spcPts val="0"/>
              </a:spcBef>
              <a:buNone/>
              <a:defRPr sz="1800" b="1">
                <a:solidFill>
                  <a:schemeClr val="tx1"/>
                </a:solidFill>
                <a:latin typeface="Courier New" pitchFamily="49" charset="0"/>
                <a:cs typeface="Courier New" pitchFamily="49" charset="0"/>
              </a:defRPr>
            </a:lvl1pPr>
            <a:lvl2pPr marL="0" indent="0">
              <a:spcBef>
                <a:spcPts val="0"/>
              </a:spcBef>
              <a:buNone/>
              <a:defRPr sz="1800" b="1">
                <a:solidFill>
                  <a:schemeClr val="tx1"/>
                </a:solidFill>
                <a:latin typeface="Courier New" pitchFamily="49" charset="0"/>
                <a:cs typeface="Courier New" pitchFamily="49" charset="0"/>
              </a:defRPr>
            </a:lvl2pPr>
            <a:lvl3pPr marL="0" indent="0">
              <a:spcBef>
                <a:spcPts val="0"/>
              </a:spcBef>
              <a:buNone/>
              <a:defRPr sz="1800" b="1">
                <a:solidFill>
                  <a:schemeClr val="tx1"/>
                </a:solidFill>
                <a:latin typeface="Courier New" pitchFamily="49" charset="0"/>
                <a:cs typeface="Courier New" pitchFamily="49" charset="0"/>
              </a:defRPr>
            </a:lvl3pPr>
            <a:lvl4pPr marL="0" indent="0">
              <a:spcBef>
                <a:spcPts val="0"/>
              </a:spcBef>
              <a:buNone/>
              <a:defRPr sz="1800" b="1">
                <a:solidFill>
                  <a:schemeClr val="tx1"/>
                </a:solidFill>
                <a:latin typeface="Courier New" pitchFamily="49" charset="0"/>
                <a:cs typeface="Courier New" pitchFamily="49" charset="0"/>
              </a:defRPr>
            </a:lvl4pPr>
            <a:lvl5pPr marL="0" indent="0">
              <a:spcBef>
                <a:spcPts val="0"/>
              </a:spcBef>
              <a:buNone/>
              <a:defRPr sz="1800" b="1">
                <a:solidFill>
                  <a:schemeClr val="tx1"/>
                </a:solidFill>
                <a:latin typeface="Courier New" pitchFamily="49" charset="0"/>
                <a:cs typeface="Courier New"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3"/>
          </p:nvPr>
        </p:nvSpPr>
        <p:spPr>
          <a:xfrm>
            <a:off x="6553200" y="685800"/>
            <a:ext cx="2590800" cy="5486400"/>
          </a:xfrm>
        </p:spPr>
        <p:txBody>
          <a:bodyPr>
            <a:noAutofit/>
          </a:bodyPr>
          <a:lstStyle>
            <a:lvl1pPr marL="0" indent="0">
              <a:spcBef>
                <a:spcPts val="0"/>
              </a:spcBef>
              <a:buNone/>
              <a:defRPr sz="2800">
                <a:solidFill>
                  <a:schemeClr val="accent1"/>
                </a:solidFill>
              </a:defRPr>
            </a:lvl1pPr>
            <a:lvl2pPr marL="0" indent="0">
              <a:spcBef>
                <a:spcPts val="0"/>
              </a:spcBef>
              <a:buNone/>
              <a:defRPr sz="2800">
                <a:solidFill>
                  <a:schemeClr val="accent1"/>
                </a:solidFill>
              </a:defRPr>
            </a:lvl2pPr>
            <a:lvl3pPr marL="0" indent="0">
              <a:spcBef>
                <a:spcPts val="0"/>
              </a:spcBef>
              <a:buNone/>
              <a:defRPr sz="2800">
                <a:solidFill>
                  <a:schemeClr val="accent1"/>
                </a:solidFill>
              </a:defRPr>
            </a:lvl3pPr>
            <a:lvl4pPr marL="0" indent="0">
              <a:spcBef>
                <a:spcPts val="0"/>
              </a:spcBef>
              <a:buNone/>
              <a:defRPr sz="2800">
                <a:solidFill>
                  <a:schemeClr val="accent1"/>
                </a:solidFill>
              </a:defRPr>
            </a:lvl4pPr>
            <a:lvl5pPr marL="0" indent="0">
              <a:spcBef>
                <a:spcPts val="0"/>
              </a:spcBef>
              <a:buNone/>
              <a:defRPr sz="2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19"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19" y="0"/>
            <a:ext cx="912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accen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accen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accen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accen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accen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06575"/>
            <a:ext cx="7772400" cy="1470025"/>
          </a:xfrm>
        </p:spPr>
        <p:txBody>
          <a:bodyPr>
            <a:normAutofit/>
          </a:bodyPr>
          <a:lstStyle/>
          <a:p>
            <a:r>
              <a:rPr lang="en-US" dirty="0"/>
              <a:t>CAP770</a:t>
            </a:r>
            <a:br>
              <a:rPr lang="en-US" dirty="0"/>
            </a:br>
            <a:r>
              <a:rPr lang="en-US" dirty="0"/>
              <a:t>ADVANCED DATA STRUCTURES</a:t>
            </a:r>
          </a:p>
        </p:txBody>
      </p:sp>
      <p:sp>
        <p:nvSpPr>
          <p:cNvPr id="3" name="Subtitle 2"/>
          <p:cNvSpPr>
            <a:spLocks noGrp="1"/>
          </p:cNvSpPr>
          <p:nvPr>
            <p:ph type="subTitle" idx="1"/>
          </p:nvPr>
        </p:nvSpPr>
        <p:spPr/>
        <p:txBody>
          <a:bodyPr/>
          <a:lstStyle/>
          <a:p>
            <a:pPr algn="ctr" fontAlgn="auto">
              <a:spcBef>
                <a:spcPts val="0"/>
              </a:spcBef>
              <a:spcAft>
                <a:spcPts val="0"/>
              </a:spcAft>
              <a:defRPr/>
            </a:pPr>
            <a:endParaRPr lang="en-US" dirty="0">
              <a:solidFill>
                <a:schemeClr val="tx1"/>
              </a:solidFill>
            </a:endParaRPr>
          </a:p>
          <a:p>
            <a:pPr algn="ctr">
              <a:spcBef>
                <a:spcPts val="0"/>
              </a:spcBef>
              <a:defRPr/>
            </a:pPr>
            <a:endParaRPr lang="en-IN" dirty="0">
              <a:solidFill>
                <a:schemeClr val="tx1"/>
              </a:solidFill>
            </a:endParaRPr>
          </a:p>
        </p:txBody>
      </p:sp>
    </p:spTree>
    <p:extLst>
      <p:ext uri="{BB962C8B-B14F-4D97-AF65-F5344CB8AC3E}">
        <p14:creationId xmlns:p14="http://schemas.microsoft.com/office/powerpoint/2010/main" val="2334589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45E9-AC54-4EE3-9C56-5D52FEF163DC}"/>
              </a:ext>
            </a:extLst>
          </p:cNvPr>
          <p:cNvSpPr>
            <a:spLocks noGrp="1"/>
          </p:cNvSpPr>
          <p:nvPr>
            <p:ph type="title"/>
          </p:nvPr>
        </p:nvSpPr>
        <p:spPr>
          <a:xfrm>
            <a:off x="457200" y="274638"/>
            <a:ext cx="8229600" cy="944562"/>
          </a:xfrm>
        </p:spPr>
        <p:txBody>
          <a:bodyPr>
            <a:normAutofit fontScale="90000"/>
          </a:bodyPr>
          <a:lstStyle/>
          <a:p>
            <a:pPr algn="l"/>
            <a:br>
              <a:rPr lang="en-US" sz="2000" b="0" i="0" u="none" strike="noStrike" baseline="0" dirty="0">
                <a:solidFill>
                  <a:srgbClr val="000000"/>
                </a:solidFill>
              </a:rPr>
            </a:br>
            <a:r>
              <a:rPr lang="en-US" sz="3600" b="0" i="0" u="none" strike="noStrike" baseline="0" dirty="0">
                <a:solidFill>
                  <a:srgbClr val="FF0000"/>
                </a:solidFill>
              </a:rPr>
              <a:t> quick sort</a:t>
            </a:r>
            <a:endParaRPr lang="en-US" sz="4800" dirty="0">
              <a:solidFill>
                <a:srgbClr val="FF0000"/>
              </a:solidFill>
            </a:endParaRPr>
          </a:p>
        </p:txBody>
      </p:sp>
      <p:sp>
        <p:nvSpPr>
          <p:cNvPr id="3" name="Content Placeholder 2">
            <a:extLst>
              <a:ext uri="{FF2B5EF4-FFF2-40B4-BE49-F238E27FC236}">
                <a16:creationId xmlns:a16="http://schemas.microsoft.com/office/drawing/2014/main" id="{C9B906DF-BA35-45BE-9B47-3859B7426ACB}"/>
              </a:ext>
            </a:extLst>
          </p:cNvPr>
          <p:cNvSpPr>
            <a:spLocks noGrp="1"/>
          </p:cNvSpPr>
          <p:nvPr>
            <p:ph idx="1"/>
          </p:nvPr>
        </p:nvSpPr>
        <p:spPr/>
        <p:txBody>
          <a:bodyPr/>
          <a:lstStyle/>
          <a:p>
            <a:pPr marL="0" indent="0" algn="just">
              <a:buNone/>
            </a:pPr>
            <a:r>
              <a:rPr lang="en-US" sz="3200" b="0" i="0" u="none" strike="noStrike" baseline="0" dirty="0">
                <a:solidFill>
                  <a:srgbClr val="FF0000"/>
                </a:solidFill>
                <a:latin typeface="+mj-lt"/>
              </a:rPr>
              <a:t>quick sort </a:t>
            </a:r>
            <a:r>
              <a:rPr lang="en-US" b="0" i="0" dirty="0">
                <a:solidFill>
                  <a:srgbClr val="000000"/>
                </a:solidFill>
                <a:effectLst/>
                <a:latin typeface="+mj-lt"/>
              </a:rPr>
              <a:t> is based on partitioning of array of data into smaller arrays. A large array is partitioned into two arrays one of which holds values smaller than the specified value, say pivot, based on which the partition is made and another array holds values greater than the pivot value.</a:t>
            </a:r>
            <a:endParaRPr lang="en-US" dirty="0">
              <a:latin typeface="+mj-lt"/>
            </a:endParaRPr>
          </a:p>
        </p:txBody>
      </p:sp>
    </p:spTree>
    <p:extLst>
      <p:ext uri="{BB962C8B-B14F-4D97-AF65-F5344CB8AC3E}">
        <p14:creationId xmlns:p14="http://schemas.microsoft.com/office/powerpoint/2010/main" val="3259557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6CC1-CAFC-4D89-9909-7D88AA32D579}"/>
              </a:ext>
            </a:extLst>
          </p:cNvPr>
          <p:cNvSpPr>
            <a:spLocks noGrp="1"/>
          </p:cNvSpPr>
          <p:nvPr>
            <p:ph type="title"/>
          </p:nvPr>
        </p:nvSpPr>
        <p:spPr/>
        <p:txBody>
          <a:bodyPr/>
          <a:lstStyle/>
          <a:p>
            <a:pPr algn="l"/>
            <a:r>
              <a:rPr lang="en-US" sz="4400" b="0" i="0" dirty="0">
                <a:solidFill>
                  <a:srgbClr val="000000"/>
                </a:solidFill>
                <a:effectLst/>
              </a:rPr>
              <a:t>divide and conquer approach</a:t>
            </a:r>
            <a:endParaRPr lang="en-US" dirty="0"/>
          </a:p>
        </p:txBody>
      </p:sp>
      <p:sp>
        <p:nvSpPr>
          <p:cNvPr id="3" name="Content Placeholder 2">
            <a:extLst>
              <a:ext uri="{FF2B5EF4-FFF2-40B4-BE49-F238E27FC236}">
                <a16:creationId xmlns:a16="http://schemas.microsoft.com/office/drawing/2014/main" id="{9D96D903-EE20-4B59-899D-65B7D62ED136}"/>
              </a:ext>
            </a:extLst>
          </p:cNvPr>
          <p:cNvSpPr>
            <a:spLocks noGrp="1"/>
          </p:cNvSpPr>
          <p:nvPr>
            <p:ph idx="1"/>
          </p:nvPr>
        </p:nvSpPr>
        <p:spPr/>
        <p:txBody>
          <a:bodyPr>
            <a:normAutofit/>
          </a:bodyPr>
          <a:lstStyle/>
          <a:p>
            <a:pPr marL="0" indent="0" algn="just">
              <a:buNone/>
            </a:pPr>
            <a:r>
              <a:rPr lang="en-US" sz="2800" b="0" i="0" dirty="0">
                <a:solidFill>
                  <a:srgbClr val="000000"/>
                </a:solidFill>
                <a:effectLst/>
              </a:rPr>
              <a:t>In divide and conquer approach, the problem in hand, is divided into smaller sub-problems and then each problem is solved independently. When we keep on dividing the subproblems into even smaller sub-problems, we may eventually reach a stage where no more division is possible. The solution of all sub-problems is finally merged in order to obtain the solution of an original problem.</a:t>
            </a:r>
            <a:endParaRPr lang="en-US" sz="2800" dirty="0"/>
          </a:p>
        </p:txBody>
      </p:sp>
    </p:spTree>
    <p:extLst>
      <p:ext uri="{BB962C8B-B14F-4D97-AF65-F5344CB8AC3E}">
        <p14:creationId xmlns:p14="http://schemas.microsoft.com/office/powerpoint/2010/main" val="99146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78CCD8A-774D-4445-9A8B-FBB6204A186D}"/>
              </a:ext>
            </a:extLst>
          </p:cNvPr>
          <p:cNvSpPr txBox="1"/>
          <p:nvPr/>
        </p:nvSpPr>
        <p:spPr>
          <a:xfrm>
            <a:off x="457201" y="411372"/>
            <a:ext cx="8439020" cy="6001643"/>
          </a:xfrm>
          <a:prstGeom prst="rect">
            <a:avLst/>
          </a:prstGeom>
          <a:noFill/>
        </p:spPr>
        <p:txBody>
          <a:bodyPr wrap="square" rtlCol="0">
            <a:spAutoFit/>
          </a:bodyPr>
          <a:lstStyle/>
          <a:p>
            <a:endParaRPr lang="en-US" sz="2400" b="1" i="1" dirty="0">
              <a:solidFill>
                <a:srgbClr val="FF0000"/>
              </a:solidFill>
            </a:endParaRPr>
          </a:p>
          <a:p>
            <a:r>
              <a:rPr lang="en-US" sz="2400" b="1" i="1" dirty="0">
                <a:solidFill>
                  <a:srgbClr val="FF0000"/>
                </a:solidFill>
              </a:rPr>
              <a:t>Step1:- select first element as pivot element here 35=pivot element.</a:t>
            </a:r>
          </a:p>
          <a:p>
            <a:endParaRPr lang="en-US" sz="2400" b="1" i="1" dirty="0">
              <a:solidFill>
                <a:srgbClr val="FF0000"/>
              </a:solidFill>
            </a:endParaRPr>
          </a:p>
          <a:p>
            <a:endParaRPr lang="en-US" sz="2400" b="1" i="1" dirty="0">
              <a:solidFill>
                <a:srgbClr val="FF0000"/>
              </a:solidFill>
            </a:endParaRPr>
          </a:p>
          <a:p>
            <a:endParaRPr lang="en-US" sz="2400" b="1" i="1" dirty="0">
              <a:solidFill>
                <a:srgbClr val="FF0000"/>
              </a:solidFill>
            </a:endParaRPr>
          </a:p>
          <a:p>
            <a:endParaRPr lang="en-US" sz="2400" b="1" i="1" dirty="0">
              <a:solidFill>
                <a:srgbClr val="FF0000"/>
              </a:solidFill>
            </a:endParaRPr>
          </a:p>
          <a:p>
            <a:r>
              <a:rPr lang="en-US" sz="2400" b="1" i="1" dirty="0">
                <a:solidFill>
                  <a:srgbClr val="FF0000"/>
                </a:solidFill>
              </a:rPr>
              <a:t>Step2:- Take two pointer : one pointer should be point next to pivot element and another pointer should be point at last.</a:t>
            </a:r>
          </a:p>
          <a:p>
            <a:br>
              <a:rPr lang="en-US" sz="2400" b="1" i="1" dirty="0">
                <a:solidFill>
                  <a:srgbClr val="FF0000"/>
                </a:solidFill>
              </a:rPr>
            </a:br>
            <a:r>
              <a:rPr lang="en-US" sz="1800" dirty="0"/>
              <a:t>													</a:t>
            </a:r>
            <a:br>
              <a:rPr lang="en-US" sz="1800" dirty="0"/>
            </a:br>
            <a:br>
              <a:rPr lang="en-US" sz="1800" dirty="0"/>
            </a:br>
            <a:br>
              <a:rPr lang="en-US" sz="1800" dirty="0"/>
            </a:br>
            <a:br>
              <a:rPr lang="en-US" sz="1800" dirty="0"/>
            </a:br>
            <a:br>
              <a:rPr lang="en-US" sz="1800" dirty="0"/>
            </a:br>
            <a:br>
              <a:rPr lang="en-US" sz="1800" dirty="0"/>
            </a:br>
            <a:r>
              <a:rPr lang="en-US" sz="1800" dirty="0"/>
              <a:t> </a:t>
            </a:r>
            <a:endParaRPr lang="en-US" dirty="0"/>
          </a:p>
        </p:txBody>
      </p:sp>
      <p:graphicFrame>
        <p:nvGraphicFramePr>
          <p:cNvPr id="13" name="Table 4">
            <a:extLst>
              <a:ext uri="{FF2B5EF4-FFF2-40B4-BE49-F238E27FC236}">
                <a16:creationId xmlns:a16="http://schemas.microsoft.com/office/drawing/2014/main" id="{187A9587-E365-439A-BFCD-4081D2A560CF}"/>
              </a:ext>
            </a:extLst>
          </p:cNvPr>
          <p:cNvGraphicFramePr>
            <a:graphicFrameLocks/>
          </p:cNvGraphicFramePr>
          <p:nvPr>
            <p:extLst>
              <p:ext uri="{D42A27DB-BD31-4B8C-83A1-F6EECF244321}">
                <p14:modId xmlns:p14="http://schemas.microsoft.com/office/powerpoint/2010/main" val="3998730940"/>
              </p:ext>
            </p:extLst>
          </p:nvPr>
        </p:nvGraphicFramePr>
        <p:xfrm>
          <a:off x="561914" y="4006422"/>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15" name="Arrow: Right 14">
            <a:extLst>
              <a:ext uri="{FF2B5EF4-FFF2-40B4-BE49-F238E27FC236}">
                <a16:creationId xmlns:a16="http://schemas.microsoft.com/office/drawing/2014/main" id="{B5226858-9F67-427C-817A-932424A4854E}"/>
              </a:ext>
            </a:extLst>
          </p:cNvPr>
          <p:cNvSpPr/>
          <p:nvPr/>
        </p:nvSpPr>
        <p:spPr>
          <a:xfrm rot="16200000">
            <a:off x="1485900" y="4852917"/>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CC4561DD-4055-460B-8F02-850CB42B3022}"/>
              </a:ext>
            </a:extLst>
          </p:cNvPr>
          <p:cNvSpPr/>
          <p:nvPr/>
        </p:nvSpPr>
        <p:spPr>
          <a:xfrm rot="16200000">
            <a:off x="7938516" y="4852917"/>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C1DBAE0-AABB-4F28-A2F9-1D448B31ED82}"/>
              </a:ext>
            </a:extLst>
          </p:cNvPr>
          <p:cNvSpPr txBox="1"/>
          <p:nvPr/>
        </p:nvSpPr>
        <p:spPr>
          <a:xfrm>
            <a:off x="1608644" y="5495585"/>
            <a:ext cx="348172" cy="461665"/>
          </a:xfrm>
          <a:prstGeom prst="rect">
            <a:avLst/>
          </a:prstGeom>
          <a:noFill/>
        </p:spPr>
        <p:txBody>
          <a:bodyPr wrap="none" rtlCol="0">
            <a:spAutoFit/>
          </a:bodyPr>
          <a:lstStyle/>
          <a:p>
            <a:r>
              <a:rPr lang="en-US" sz="2400" b="1" dirty="0">
                <a:solidFill>
                  <a:srgbClr val="FF0000"/>
                </a:solidFill>
              </a:rPr>
              <a:t>P</a:t>
            </a:r>
          </a:p>
        </p:txBody>
      </p:sp>
      <p:graphicFrame>
        <p:nvGraphicFramePr>
          <p:cNvPr id="24" name="Table 4">
            <a:extLst>
              <a:ext uri="{FF2B5EF4-FFF2-40B4-BE49-F238E27FC236}">
                <a16:creationId xmlns:a16="http://schemas.microsoft.com/office/drawing/2014/main" id="{63EC0645-0DAF-4FE6-A5D8-F59B94B9C220}"/>
              </a:ext>
            </a:extLst>
          </p:cNvPr>
          <p:cNvGraphicFramePr>
            <a:graphicFrameLocks noGrp="1"/>
          </p:cNvGraphicFramePr>
          <p:nvPr>
            <p:ph idx="1"/>
            <p:extLst>
              <p:ext uri="{D42A27DB-BD31-4B8C-83A1-F6EECF244321}">
                <p14:modId xmlns:p14="http://schemas.microsoft.com/office/powerpoint/2010/main" val="2552807042"/>
              </p:ext>
            </p:extLst>
          </p:nvPr>
        </p:nvGraphicFramePr>
        <p:xfrm>
          <a:off x="457200" y="1600200"/>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25" name="Arrow: Right 24">
            <a:extLst>
              <a:ext uri="{FF2B5EF4-FFF2-40B4-BE49-F238E27FC236}">
                <a16:creationId xmlns:a16="http://schemas.microsoft.com/office/drawing/2014/main" id="{8A395791-D6D7-4531-B469-27EE10BE31B3}"/>
              </a:ext>
            </a:extLst>
          </p:cNvPr>
          <p:cNvSpPr/>
          <p:nvPr/>
        </p:nvSpPr>
        <p:spPr>
          <a:xfrm rot="16200000">
            <a:off x="438029" y="2277420"/>
            <a:ext cx="457199"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B2F9E2A-11D5-4494-9271-26B38F778566}"/>
              </a:ext>
            </a:extLst>
          </p:cNvPr>
          <p:cNvSpPr txBox="1"/>
          <p:nvPr/>
        </p:nvSpPr>
        <p:spPr>
          <a:xfrm>
            <a:off x="8062552" y="5406758"/>
            <a:ext cx="396262" cy="461665"/>
          </a:xfrm>
          <a:prstGeom prst="rect">
            <a:avLst/>
          </a:prstGeom>
          <a:noFill/>
        </p:spPr>
        <p:txBody>
          <a:bodyPr wrap="none" rtlCol="0">
            <a:spAutoFit/>
          </a:bodyPr>
          <a:lstStyle/>
          <a:p>
            <a:r>
              <a:rPr lang="en-US" sz="2400" b="1" dirty="0">
                <a:solidFill>
                  <a:srgbClr val="FF0000"/>
                </a:solidFill>
              </a:rPr>
              <a:t>Q</a:t>
            </a:r>
          </a:p>
        </p:txBody>
      </p:sp>
    </p:spTree>
    <p:extLst>
      <p:ext uri="{BB962C8B-B14F-4D97-AF65-F5344CB8AC3E}">
        <p14:creationId xmlns:p14="http://schemas.microsoft.com/office/powerpoint/2010/main" val="666088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032B28-E2EE-4310-8592-6238A6BAC0C3}"/>
              </a:ext>
            </a:extLst>
          </p:cNvPr>
          <p:cNvGraphicFramePr>
            <a:graphicFrameLocks/>
          </p:cNvGraphicFramePr>
          <p:nvPr>
            <p:extLst>
              <p:ext uri="{D42A27DB-BD31-4B8C-83A1-F6EECF244321}">
                <p14:modId xmlns:p14="http://schemas.microsoft.com/office/powerpoint/2010/main" val="2649324400"/>
              </p:ext>
            </p:extLst>
          </p:nvPr>
        </p:nvGraphicFramePr>
        <p:xfrm>
          <a:off x="152400" y="990600"/>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5" name="Arrow: Right 4">
            <a:extLst>
              <a:ext uri="{FF2B5EF4-FFF2-40B4-BE49-F238E27FC236}">
                <a16:creationId xmlns:a16="http://schemas.microsoft.com/office/drawing/2014/main" id="{D19873A7-2A47-47BF-B323-122ADD9E8438}"/>
              </a:ext>
            </a:extLst>
          </p:cNvPr>
          <p:cNvSpPr/>
          <p:nvPr/>
        </p:nvSpPr>
        <p:spPr>
          <a:xfrm rot="16200000">
            <a:off x="1156716" y="196748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510B1F07-57C8-4BB0-92B6-25D252D5F22E}"/>
              </a:ext>
            </a:extLst>
          </p:cNvPr>
          <p:cNvSpPr/>
          <p:nvPr/>
        </p:nvSpPr>
        <p:spPr>
          <a:xfrm rot="16200000">
            <a:off x="7609332" y="196748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B4F8E54E-C3F0-4856-8359-FFE8873D4FB3}"/>
              </a:ext>
            </a:extLst>
          </p:cNvPr>
          <p:cNvSpPr/>
          <p:nvPr/>
        </p:nvSpPr>
        <p:spPr>
          <a:xfrm>
            <a:off x="1627633" y="2133600"/>
            <a:ext cx="1191767"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DABBA0DE-713E-4CD7-BF4B-7A3A0CB64771}"/>
              </a:ext>
            </a:extLst>
          </p:cNvPr>
          <p:cNvSpPr/>
          <p:nvPr/>
        </p:nvSpPr>
        <p:spPr>
          <a:xfrm rot="5400000">
            <a:off x="6612552" y="1480125"/>
            <a:ext cx="249264" cy="15562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A78689-2031-482F-8F2A-F2799C1E2B8A}"/>
              </a:ext>
            </a:extLst>
          </p:cNvPr>
          <p:cNvSpPr txBox="1"/>
          <p:nvPr/>
        </p:nvSpPr>
        <p:spPr>
          <a:xfrm>
            <a:off x="1249330" y="2438400"/>
            <a:ext cx="348172" cy="461665"/>
          </a:xfrm>
          <a:prstGeom prst="rect">
            <a:avLst/>
          </a:prstGeom>
          <a:noFill/>
        </p:spPr>
        <p:txBody>
          <a:bodyPr wrap="square" rtlCol="0">
            <a:spAutoFit/>
          </a:bodyPr>
          <a:lstStyle/>
          <a:p>
            <a:r>
              <a:rPr lang="en-US" sz="2400" b="1" dirty="0">
                <a:solidFill>
                  <a:srgbClr val="FF0000"/>
                </a:solidFill>
              </a:rPr>
              <a:t>P</a:t>
            </a:r>
          </a:p>
        </p:txBody>
      </p:sp>
      <p:sp>
        <p:nvSpPr>
          <p:cNvPr id="10" name="TextBox 9">
            <a:extLst>
              <a:ext uri="{FF2B5EF4-FFF2-40B4-BE49-F238E27FC236}">
                <a16:creationId xmlns:a16="http://schemas.microsoft.com/office/drawing/2014/main" id="{751569DB-D087-494E-AF3C-FDF87B5853FB}"/>
              </a:ext>
            </a:extLst>
          </p:cNvPr>
          <p:cNvSpPr txBox="1"/>
          <p:nvPr/>
        </p:nvSpPr>
        <p:spPr>
          <a:xfrm>
            <a:off x="7732076" y="2466814"/>
            <a:ext cx="396262" cy="461665"/>
          </a:xfrm>
          <a:prstGeom prst="rect">
            <a:avLst/>
          </a:prstGeom>
          <a:noFill/>
        </p:spPr>
        <p:txBody>
          <a:bodyPr wrap="none" rtlCol="0">
            <a:spAutoFit/>
          </a:bodyPr>
          <a:lstStyle/>
          <a:p>
            <a:r>
              <a:rPr lang="en-US" sz="2400" b="1" dirty="0">
                <a:solidFill>
                  <a:srgbClr val="FF0000"/>
                </a:solidFill>
              </a:rPr>
              <a:t>Q</a:t>
            </a:r>
          </a:p>
        </p:txBody>
      </p:sp>
      <p:sp>
        <p:nvSpPr>
          <p:cNvPr id="11" name="TextBox 10">
            <a:extLst>
              <a:ext uri="{FF2B5EF4-FFF2-40B4-BE49-F238E27FC236}">
                <a16:creationId xmlns:a16="http://schemas.microsoft.com/office/drawing/2014/main" id="{1FA4FE28-6E6F-4FAD-9F1D-FCCFC6F531C3}"/>
              </a:ext>
            </a:extLst>
          </p:cNvPr>
          <p:cNvSpPr txBox="1"/>
          <p:nvPr/>
        </p:nvSpPr>
        <p:spPr>
          <a:xfrm>
            <a:off x="152401" y="3152614"/>
            <a:ext cx="8991600" cy="1938992"/>
          </a:xfrm>
          <a:prstGeom prst="rect">
            <a:avLst/>
          </a:prstGeom>
          <a:noFill/>
        </p:spPr>
        <p:txBody>
          <a:bodyPr wrap="square" rtlCol="0">
            <a:spAutoFit/>
          </a:bodyPr>
          <a:lstStyle/>
          <a:p>
            <a:r>
              <a:rPr lang="en-US" sz="2400" b="1" dirty="0"/>
              <a:t>Pointer P will move right side until unless finding greater then pivot value and Pointer Q will move left side until unless finding less then pivot value</a:t>
            </a:r>
          </a:p>
          <a:p>
            <a:r>
              <a:rPr lang="en-US" dirty="0"/>
              <a:t>  </a:t>
            </a:r>
            <a:r>
              <a:rPr lang="en-US" sz="2400" dirty="0">
                <a:solidFill>
                  <a:srgbClr val="FF0000"/>
                </a:solidFill>
              </a:rPr>
              <a:t>It will help to left side  of pivot value  all smaller and right side of pivot value all larger </a:t>
            </a:r>
            <a:endParaRPr lang="en-US" dirty="0">
              <a:solidFill>
                <a:srgbClr val="FF0000"/>
              </a:solidFill>
            </a:endParaRPr>
          </a:p>
        </p:txBody>
      </p:sp>
    </p:spTree>
    <p:extLst>
      <p:ext uri="{BB962C8B-B14F-4D97-AF65-F5344CB8AC3E}">
        <p14:creationId xmlns:p14="http://schemas.microsoft.com/office/powerpoint/2010/main" val="490663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032B28-E2EE-4310-8592-6238A6BAC0C3}"/>
              </a:ext>
            </a:extLst>
          </p:cNvPr>
          <p:cNvGraphicFramePr>
            <a:graphicFrameLocks/>
          </p:cNvGraphicFramePr>
          <p:nvPr/>
        </p:nvGraphicFramePr>
        <p:xfrm>
          <a:off x="152400" y="990600"/>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5" name="Arrow: Right 4">
            <a:extLst>
              <a:ext uri="{FF2B5EF4-FFF2-40B4-BE49-F238E27FC236}">
                <a16:creationId xmlns:a16="http://schemas.microsoft.com/office/drawing/2014/main" id="{D19873A7-2A47-47BF-B323-122ADD9E8438}"/>
              </a:ext>
            </a:extLst>
          </p:cNvPr>
          <p:cNvSpPr/>
          <p:nvPr/>
        </p:nvSpPr>
        <p:spPr>
          <a:xfrm rot="16200000">
            <a:off x="1156716" y="196748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510B1F07-57C8-4BB0-92B6-25D252D5F22E}"/>
              </a:ext>
            </a:extLst>
          </p:cNvPr>
          <p:cNvSpPr/>
          <p:nvPr/>
        </p:nvSpPr>
        <p:spPr>
          <a:xfrm rot="16200000">
            <a:off x="5423916" y="1941248"/>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A78689-2031-482F-8F2A-F2799C1E2B8A}"/>
              </a:ext>
            </a:extLst>
          </p:cNvPr>
          <p:cNvSpPr txBox="1"/>
          <p:nvPr/>
        </p:nvSpPr>
        <p:spPr>
          <a:xfrm>
            <a:off x="1249330" y="2438400"/>
            <a:ext cx="348172" cy="461665"/>
          </a:xfrm>
          <a:prstGeom prst="rect">
            <a:avLst/>
          </a:prstGeom>
          <a:noFill/>
        </p:spPr>
        <p:txBody>
          <a:bodyPr wrap="square" rtlCol="0">
            <a:spAutoFit/>
          </a:bodyPr>
          <a:lstStyle/>
          <a:p>
            <a:r>
              <a:rPr lang="en-US" sz="2400" b="1" dirty="0">
                <a:solidFill>
                  <a:srgbClr val="FF0000"/>
                </a:solidFill>
              </a:rPr>
              <a:t>P</a:t>
            </a:r>
          </a:p>
        </p:txBody>
      </p:sp>
      <p:sp>
        <p:nvSpPr>
          <p:cNvPr id="10" name="TextBox 9">
            <a:extLst>
              <a:ext uri="{FF2B5EF4-FFF2-40B4-BE49-F238E27FC236}">
                <a16:creationId xmlns:a16="http://schemas.microsoft.com/office/drawing/2014/main" id="{751569DB-D087-494E-AF3C-FDF87B5853FB}"/>
              </a:ext>
            </a:extLst>
          </p:cNvPr>
          <p:cNvSpPr txBox="1"/>
          <p:nvPr/>
        </p:nvSpPr>
        <p:spPr>
          <a:xfrm>
            <a:off x="5498570" y="2463857"/>
            <a:ext cx="396262" cy="461665"/>
          </a:xfrm>
          <a:prstGeom prst="rect">
            <a:avLst/>
          </a:prstGeom>
          <a:noFill/>
        </p:spPr>
        <p:txBody>
          <a:bodyPr wrap="none" rtlCol="0">
            <a:spAutoFit/>
          </a:bodyPr>
          <a:lstStyle/>
          <a:p>
            <a:r>
              <a:rPr lang="en-US" sz="2400" b="1" dirty="0">
                <a:solidFill>
                  <a:srgbClr val="FF0000"/>
                </a:solidFill>
              </a:rPr>
              <a:t>Q</a:t>
            </a:r>
          </a:p>
        </p:txBody>
      </p:sp>
      <p:sp>
        <p:nvSpPr>
          <p:cNvPr id="11" name="TextBox 10">
            <a:extLst>
              <a:ext uri="{FF2B5EF4-FFF2-40B4-BE49-F238E27FC236}">
                <a16:creationId xmlns:a16="http://schemas.microsoft.com/office/drawing/2014/main" id="{1FA4FE28-6E6F-4FAD-9F1D-FCCFC6F531C3}"/>
              </a:ext>
            </a:extLst>
          </p:cNvPr>
          <p:cNvSpPr txBox="1"/>
          <p:nvPr/>
        </p:nvSpPr>
        <p:spPr>
          <a:xfrm>
            <a:off x="152401" y="3152614"/>
            <a:ext cx="8991600" cy="3046988"/>
          </a:xfrm>
          <a:prstGeom prst="rect">
            <a:avLst/>
          </a:prstGeom>
          <a:noFill/>
        </p:spPr>
        <p:txBody>
          <a:bodyPr wrap="square" rtlCol="0">
            <a:spAutoFit/>
          </a:bodyPr>
          <a:lstStyle/>
          <a:p>
            <a:r>
              <a:rPr lang="en-US" sz="2400" b="1" dirty="0">
                <a:solidFill>
                  <a:srgbClr val="FF0000"/>
                </a:solidFill>
              </a:rPr>
              <a:t>Now compare pointer P value with pivot value </a:t>
            </a:r>
            <a:r>
              <a:rPr lang="en-US" sz="2400" b="1" dirty="0" err="1">
                <a:solidFill>
                  <a:srgbClr val="FF0000"/>
                </a:solidFill>
              </a:rPr>
              <a:t>i,e</a:t>
            </a:r>
            <a:r>
              <a:rPr lang="en-US" sz="2400" b="1" dirty="0">
                <a:solidFill>
                  <a:srgbClr val="FF0000"/>
                </a:solidFill>
              </a:rPr>
              <a:t> P&gt;pi pointer will be stop here because pointer got the </a:t>
            </a:r>
            <a:r>
              <a:rPr lang="en-US" sz="2400" b="1" dirty="0"/>
              <a:t>greater then pivot value </a:t>
            </a:r>
          </a:p>
          <a:p>
            <a:endParaRPr lang="en-US" sz="2400" b="1" dirty="0">
              <a:solidFill>
                <a:srgbClr val="FF0000"/>
              </a:solidFill>
            </a:endParaRPr>
          </a:p>
          <a:p>
            <a:r>
              <a:rPr lang="en-US" sz="2400" b="1" dirty="0">
                <a:solidFill>
                  <a:srgbClr val="FF0000"/>
                </a:solidFill>
              </a:rPr>
              <a:t>Compare pointer Q with pivot value </a:t>
            </a:r>
            <a:r>
              <a:rPr lang="en-US" sz="2400" b="1" dirty="0" err="1">
                <a:solidFill>
                  <a:srgbClr val="FF0000"/>
                </a:solidFill>
              </a:rPr>
              <a:t>i,e</a:t>
            </a:r>
            <a:r>
              <a:rPr lang="en-US" sz="2400" b="1" dirty="0">
                <a:solidFill>
                  <a:srgbClr val="FF0000"/>
                </a:solidFill>
              </a:rPr>
              <a:t> Q&lt;pi(45&lt;35) which is not true means move to next (90&lt;35)=not true move next,(20&lt;35)=true stop here </a:t>
            </a:r>
          </a:p>
          <a:p>
            <a:endParaRPr lang="en-US" sz="2400" b="1" dirty="0">
              <a:solidFill>
                <a:srgbClr val="FF0000"/>
              </a:solidFill>
            </a:endParaRPr>
          </a:p>
          <a:p>
            <a:r>
              <a:rPr lang="en-US" sz="2400" b="1" dirty="0">
                <a:solidFill>
                  <a:srgbClr val="FF0000"/>
                </a:solidFill>
              </a:rPr>
              <a:t>Now swap the value from position P to Q</a:t>
            </a:r>
            <a:endParaRPr lang="en-US" dirty="0">
              <a:solidFill>
                <a:srgbClr val="FF0000"/>
              </a:solidFill>
            </a:endParaRPr>
          </a:p>
        </p:txBody>
      </p:sp>
    </p:spTree>
    <p:extLst>
      <p:ext uri="{BB962C8B-B14F-4D97-AF65-F5344CB8AC3E}">
        <p14:creationId xmlns:p14="http://schemas.microsoft.com/office/powerpoint/2010/main" val="317799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032B28-E2EE-4310-8592-6238A6BAC0C3}"/>
              </a:ext>
            </a:extLst>
          </p:cNvPr>
          <p:cNvGraphicFramePr>
            <a:graphicFrameLocks/>
          </p:cNvGraphicFramePr>
          <p:nvPr>
            <p:extLst>
              <p:ext uri="{D42A27DB-BD31-4B8C-83A1-F6EECF244321}">
                <p14:modId xmlns:p14="http://schemas.microsoft.com/office/powerpoint/2010/main" val="1331681284"/>
              </p:ext>
            </p:extLst>
          </p:nvPr>
        </p:nvGraphicFramePr>
        <p:xfrm>
          <a:off x="152400" y="990600"/>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5" name="Arrow: Right 4">
            <a:extLst>
              <a:ext uri="{FF2B5EF4-FFF2-40B4-BE49-F238E27FC236}">
                <a16:creationId xmlns:a16="http://schemas.microsoft.com/office/drawing/2014/main" id="{D19873A7-2A47-47BF-B323-122ADD9E8438}"/>
              </a:ext>
            </a:extLst>
          </p:cNvPr>
          <p:cNvSpPr/>
          <p:nvPr/>
        </p:nvSpPr>
        <p:spPr>
          <a:xfrm rot="16200000">
            <a:off x="1156716" y="196748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510B1F07-57C8-4BB0-92B6-25D252D5F22E}"/>
              </a:ext>
            </a:extLst>
          </p:cNvPr>
          <p:cNvSpPr/>
          <p:nvPr/>
        </p:nvSpPr>
        <p:spPr>
          <a:xfrm rot="16200000">
            <a:off x="5423916" y="1941248"/>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A78689-2031-482F-8F2A-F2799C1E2B8A}"/>
              </a:ext>
            </a:extLst>
          </p:cNvPr>
          <p:cNvSpPr txBox="1"/>
          <p:nvPr/>
        </p:nvSpPr>
        <p:spPr>
          <a:xfrm>
            <a:off x="1249330" y="2438400"/>
            <a:ext cx="348172" cy="461665"/>
          </a:xfrm>
          <a:prstGeom prst="rect">
            <a:avLst/>
          </a:prstGeom>
          <a:noFill/>
        </p:spPr>
        <p:txBody>
          <a:bodyPr wrap="square" rtlCol="0">
            <a:spAutoFit/>
          </a:bodyPr>
          <a:lstStyle/>
          <a:p>
            <a:r>
              <a:rPr lang="en-US" sz="2400" b="1" dirty="0">
                <a:solidFill>
                  <a:srgbClr val="FF0000"/>
                </a:solidFill>
              </a:rPr>
              <a:t>P</a:t>
            </a:r>
          </a:p>
        </p:txBody>
      </p:sp>
      <p:sp>
        <p:nvSpPr>
          <p:cNvPr id="10" name="TextBox 9">
            <a:extLst>
              <a:ext uri="{FF2B5EF4-FFF2-40B4-BE49-F238E27FC236}">
                <a16:creationId xmlns:a16="http://schemas.microsoft.com/office/drawing/2014/main" id="{751569DB-D087-494E-AF3C-FDF87B5853FB}"/>
              </a:ext>
            </a:extLst>
          </p:cNvPr>
          <p:cNvSpPr txBox="1"/>
          <p:nvPr/>
        </p:nvSpPr>
        <p:spPr>
          <a:xfrm>
            <a:off x="5498570" y="2463857"/>
            <a:ext cx="396262" cy="461665"/>
          </a:xfrm>
          <a:prstGeom prst="rect">
            <a:avLst/>
          </a:prstGeom>
          <a:noFill/>
        </p:spPr>
        <p:txBody>
          <a:bodyPr wrap="none" rtlCol="0">
            <a:spAutoFit/>
          </a:bodyPr>
          <a:lstStyle/>
          <a:p>
            <a:r>
              <a:rPr lang="en-US" sz="2400" b="1" dirty="0">
                <a:solidFill>
                  <a:srgbClr val="FF0000"/>
                </a:solidFill>
              </a:rPr>
              <a:t>Q</a:t>
            </a:r>
          </a:p>
        </p:txBody>
      </p:sp>
      <p:sp>
        <p:nvSpPr>
          <p:cNvPr id="11" name="TextBox 10">
            <a:extLst>
              <a:ext uri="{FF2B5EF4-FFF2-40B4-BE49-F238E27FC236}">
                <a16:creationId xmlns:a16="http://schemas.microsoft.com/office/drawing/2014/main" id="{1FA4FE28-6E6F-4FAD-9F1D-FCCFC6F531C3}"/>
              </a:ext>
            </a:extLst>
          </p:cNvPr>
          <p:cNvSpPr txBox="1"/>
          <p:nvPr/>
        </p:nvSpPr>
        <p:spPr>
          <a:xfrm>
            <a:off x="152401" y="3152614"/>
            <a:ext cx="8991600" cy="1938992"/>
          </a:xfrm>
          <a:prstGeom prst="rect">
            <a:avLst/>
          </a:prstGeom>
          <a:noFill/>
        </p:spPr>
        <p:txBody>
          <a:bodyPr wrap="square" rtlCol="0">
            <a:spAutoFit/>
          </a:bodyPr>
          <a:lstStyle/>
          <a:p>
            <a:r>
              <a:rPr lang="en-US" sz="2400" b="1" dirty="0">
                <a:solidFill>
                  <a:srgbClr val="FF0000"/>
                </a:solidFill>
              </a:rPr>
              <a:t>Now again repeat the process</a:t>
            </a:r>
          </a:p>
          <a:p>
            <a:r>
              <a:rPr lang="en-US" sz="2400" b="1" dirty="0">
                <a:solidFill>
                  <a:srgbClr val="FF0000"/>
                </a:solidFill>
              </a:rPr>
              <a:t>20&gt;35=not true move next</a:t>
            </a:r>
          </a:p>
          <a:p>
            <a:r>
              <a:rPr lang="en-US" sz="2400" b="1" dirty="0">
                <a:solidFill>
                  <a:srgbClr val="FF0000"/>
                </a:solidFill>
              </a:rPr>
              <a:t>15&gt;35=not true move next</a:t>
            </a:r>
          </a:p>
          <a:p>
            <a:r>
              <a:rPr lang="en-US" sz="2400" b="1" dirty="0">
                <a:solidFill>
                  <a:srgbClr val="FF0000"/>
                </a:solidFill>
              </a:rPr>
              <a:t>25&gt;35=not true move next</a:t>
            </a:r>
          </a:p>
          <a:p>
            <a:r>
              <a:rPr lang="en-US" sz="2400" b="1" dirty="0">
                <a:solidFill>
                  <a:srgbClr val="FF0000"/>
                </a:solidFill>
              </a:rPr>
              <a:t>80&gt;35= true stop pointer P here now</a:t>
            </a:r>
            <a:endParaRPr lang="en-US" dirty="0">
              <a:solidFill>
                <a:srgbClr val="FF0000"/>
              </a:solidFill>
            </a:endParaRPr>
          </a:p>
        </p:txBody>
      </p:sp>
      <p:graphicFrame>
        <p:nvGraphicFramePr>
          <p:cNvPr id="8" name="Table 4">
            <a:extLst>
              <a:ext uri="{FF2B5EF4-FFF2-40B4-BE49-F238E27FC236}">
                <a16:creationId xmlns:a16="http://schemas.microsoft.com/office/drawing/2014/main" id="{044F7BB4-72EF-49DC-A395-923A1B73F40B}"/>
              </a:ext>
            </a:extLst>
          </p:cNvPr>
          <p:cNvGraphicFramePr>
            <a:graphicFrameLocks/>
          </p:cNvGraphicFramePr>
          <p:nvPr>
            <p:extLst>
              <p:ext uri="{D42A27DB-BD31-4B8C-83A1-F6EECF244321}">
                <p14:modId xmlns:p14="http://schemas.microsoft.com/office/powerpoint/2010/main" val="1961861953"/>
              </p:ext>
            </p:extLst>
          </p:nvPr>
        </p:nvGraphicFramePr>
        <p:xfrm>
          <a:off x="152400" y="5138057"/>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12" name="Arrow: Right 11">
            <a:extLst>
              <a:ext uri="{FF2B5EF4-FFF2-40B4-BE49-F238E27FC236}">
                <a16:creationId xmlns:a16="http://schemas.microsoft.com/office/drawing/2014/main" id="{6A216720-65E2-4637-8022-B6BAA61397E4}"/>
              </a:ext>
            </a:extLst>
          </p:cNvPr>
          <p:cNvSpPr/>
          <p:nvPr/>
        </p:nvSpPr>
        <p:spPr>
          <a:xfrm rot="16200000">
            <a:off x="4381501" y="602070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018CEAB-3CCC-43A8-8302-F6B0E9673C63}"/>
              </a:ext>
            </a:extLst>
          </p:cNvPr>
          <p:cNvSpPr txBox="1"/>
          <p:nvPr/>
        </p:nvSpPr>
        <p:spPr>
          <a:xfrm>
            <a:off x="4505813" y="6491620"/>
            <a:ext cx="348172" cy="461665"/>
          </a:xfrm>
          <a:prstGeom prst="rect">
            <a:avLst/>
          </a:prstGeom>
          <a:noFill/>
        </p:spPr>
        <p:txBody>
          <a:bodyPr wrap="square" rtlCol="0">
            <a:spAutoFit/>
          </a:bodyPr>
          <a:lstStyle/>
          <a:p>
            <a:r>
              <a:rPr lang="en-US" sz="2400" b="1" dirty="0">
                <a:solidFill>
                  <a:srgbClr val="FF0000"/>
                </a:solidFill>
              </a:rPr>
              <a:t>P</a:t>
            </a:r>
          </a:p>
        </p:txBody>
      </p:sp>
    </p:spTree>
    <p:extLst>
      <p:ext uri="{BB962C8B-B14F-4D97-AF65-F5344CB8AC3E}">
        <p14:creationId xmlns:p14="http://schemas.microsoft.com/office/powerpoint/2010/main" val="728569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032B28-E2EE-4310-8592-6238A6BAC0C3}"/>
              </a:ext>
            </a:extLst>
          </p:cNvPr>
          <p:cNvGraphicFramePr>
            <a:graphicFrameLocks/>
          </p:cNvGraphicFramePr>
          <p:nvPr/>
        </p:nvGraphicFramePr>
        <p:xfrm>
          <a:off x="152400" y="990600"/>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5" name="Arrow: Right 4">
            <a:extLst>
              <a:ext uri="{FF2B5EF4-FFF2-40B4-BE49-F238E27FC236}">
                <a16:creationId xmlns:a16="http://schemas.microsoft.com/office/drawing/2014/main" id="{D19873A7-2A47-47BF-B323-122ADD9E8438}"/>
              </a:ext>
            </a:extLst>
          </p:cNvPr>
          <p:cNvSpPr/>
          <p:nvPr/>
        </p:nvSpPr>
        <p:spPr>
          <a:xfrm rot="16200000">
            <a:off x="4381501" y="2021970"/>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510B1F07-57C8-4BB0-92B6-25D252D5F22E}"/>
              </a:ext>
            </a:extLst>
          </p:cNvPr>
          <p:cNvSpPr/>
          <p:nvPr/>
        </p:nvSpPr>
        <p:spPr>
          <a:xfrm rot="16200000">
            <a:off x="5423916" y="1941248"/>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A78689-2031-482F-8F2A-F2799C1E2B8A}"/>
              </a:ext>
            </a:extLst>
          </p:cNvPr>
          <p:cNvSpPr txBox="1"/>
          <p:nvPr/>
        </p:nvSpPr>
        <p:spPr>
          <a:xfrm>
            <a:off x="4505813" y="2551048"/>
            <a:ext cx="334759" cy="461665"/>
          </a:xfrm>
          <a:prstGeom prst="rect">
            <a:avLst/>
          </a:prstGeom>
          <a:noFill/>
        </p:spPr>
        <p:txBody>
          <a:bodyPr wrap="square" rtlCol="0">
            <a:spAutoFit/>
          </a:bodyPr>
          <a:lstStyle/>
          <a:p>
            <a:r>
              <a:rPr lang="en-US" sz="2400" b="1" dirty="0">
                <a:solidFill>
                  <a:srgbClr val="FF0000"/>
                </a:solidFill>
              </a:rPr>
              <a:t>P</a:t>
            </a:r>
          </a:p>
        </p:txBody>
      </p:sp>
      <p:sp>
        <p:nvSpPr>
          <p:cNvPr id="10" name="TextBox 9">
            <a:extLst>
              <a:ext uri="{FF2B5EF4-FFF2-40B4-BE49-F238E27FC236}">
                <a16:creationId xmlns:a16="http://schemas.microsoft.com/office/drawing/2014/main" id="{751569DB-D087-494E-AF3C-FDF87B5853FB}"/>
              </a:ext>
            </a:extLst>
          </p:cNvPr>
          <p:cNvSpPr txBox="1"/>
          <p:nvPr/>
        </p:nvSpPr>
        <p:spPr>
          <a:xfrm>
            <a:off x="5498570" y="2463857"/>
            <a:ext cx="396262" cy="461665"/>
          </a:xfrm>
          <a:prstGeom prst="rect">
            <a:avLst/>
          </a:prstGeom>
          <a:noFill/>
        </p:spPr>
        <p:txBody>
          <a:bodyPr wrap="none" rtlCol="0">
            <a:spAutoFit/>
          </a:bodyPr>
          <a:lstStyle/>
          <a:p>
            <a:r>
              <a:rPr lang="en-US" sz="2400" b="1" dirty="0">
                <a:solidFill>
                  <a:srgbClr val="FF0000"/>
                </a:solidFill>
              </a:rPr>
              <a:t>Q</a:t>
            </a:r>
          </a:p>
        </p:txBody>
      </p:sp>
      <p:sp>
        <p:nvSpPr>
          <p:cNvPr id="11" name="TextBox 10">
            <a:extLst>
              <a:ext uri="{FF2B5EF4-FFF2-40B4-BE49-F238E27FC236}">
                <a16:creationId xmlns:a16="http://schemas.microsoft.com/office/drawing/2014/main" id="{1FA4FE28-6E6F-4FAD-9F1D-FCCFC6F531C3}"/>
              </a:ext>
            </a:extLst>
          </p:cNvPr>
          <p:cNvSpPr txBox="1"/>
          <p:nvPr/>
        </p:nvSpPr>
        <p:spPr>
          <a:xfrm>
            <a:off x="152401" y="3152614"/>
            <a:ext cx="8991600" cy="1569660"/>
          </a:xfrm>
          <a:prstGeom prst="rect">
            <a:avLst/>
          </a:prstGeom>
          <a:noFill/>
        </p:spPr>
        <p:txBody>
          <a:bodyPr wrap="square" rtlCol="0">
            <a:spAutoFit/>
          </a:bodyPr>
          <a:lstStyle/>
          <a:p>
            <a:r>
              <a:rPr lang="en-US" sz="2400" b="1" dirty="0">
                <a:solidFill>
                  <a:srgbClr val="FF0000"/>
                </a:solidFill>
              </a:rPr>
              <a:t>Now again repeat the process for Q</a:t>
            </a:r>
          </a:p>
          <a:p>
            <a:r>
              <a:rPr lang="en-US" sz="2400" b="1" dirty="0">
                <a:solidFill>
                  <a:srgbClr val="FF0000"/>
                </a:solidFill>
              </a:rPr>
              <a:t>50&lt;35=not true move next</a:t>
            </a:r>
          </a:p>
          <a:p>
            <a:r>
              <a:rPr lang="en-US" sz="2400" b="1" dirty="0">
                <a:solidFill>
                  <a:srgbClr val="FF0000"/>
                </a:solidFill>
              </a:rPr>
              <a:t>80&lt;35=not true move next</a:t>
            </a:r>
          </a:p>
          <a:p>
            <a:r>
              <a:rPr lang="en-US" sz="2400" b="1" dirty="0">
                <a:solidFill>
                  <a:srgbClr val="FF0000"/>
                </a:solidFill>
              </a:rPr>
              <a:t>25&lt;35=true stop pointer Q here</a:t>
            </a:r>
          </a:p>
        </p:txBody>
      </p:sp>
      <p:graphicFrame>
        <p:nvGraphicFramePr>
          <p:cNvPr id="8" name="Table 4">
            <a:extLst>
              <a:ext uri="{FF2B5EF4-FFF2-40B4-BE49-F238E27FC236}">
                <a16:creationId xmlns:a16="http://schemas.microsoft.com/office/drawing/2014/main" id="{044F7BB4-72EF-49DC-A395-923A1B73F40B}"/>
              </a:ext>
            </a:extLst>
          </p:cNvPr>
          <p:cNvGraphicFramePr>
            <a:graphicFrameLocks/>
          </p:cNvGraphicFramePr>
          <p:nvPr/>
        </p:nvGraphicFramePr>
        <p:xfrm>
          <a:off x="152400" y="5138057"/>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12" name="Arrow: Right 11">
            <a:extLst>
              <a:ext uri="{FF2B5EF4-FFF2-40B4-BE49-F238E27FC236}">
                <a16:creationId xmlns:a16="http://schemas.microsoft.com/office/drawing/2014/main" id="{6A216720-65E2-4637-8022-B6BAA61397E4}"/>
              </a:ext>
            </a:extLst>
          </p:cNvPr>
          <p:cNvSpPr/>
          <p:nvPr/>
        </p:nvSpPr>
        <p:spPr>
          <a:xfrm rot="16200000">
            <a:off x="4381501" y="5988881"/>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018CEAB-3CCC-43A8-8302-F6B0E9673C63}"/>
              </a:ext>
            </a:extLst>
          </p:cNvPr>
          <p:cNvSpPr txBox="1"/>
          <p:nvPr/>
        </p:nvSpPr>
        <p:spPr>
          <a:xfrm>
            <a:off x="4505813" y="6491620"/>
            <a:ext cx="348172" cy="461665"/>
          </a:xfrm>
          <a:prstGeom prst="rect">
            <a:avLst/>
          </a:prstGeom>
          <a:noFill/>
        </p:spPr>
        <p:txBody>
          <a:bodyPr wrap="square" rtlCol="0">
            <a:spAutoFit/>
          </a:bodyPr>
          <a:lstStyle/>
          <a:p>
            <a:r>
              <a:rPr lang="en-US" sz="2400" b="1" dirty="0">
                <a:solidFill>
                  <a:srgbClr val="FF0000"/>
                </a:solidFill>
              </a:rPr>
              <a:t>P</a:t>
            </a:r>
          </a:p>
        </p:txBody>
      </p:sp>
      <p:sp>
        <p:nvSpPr>
          <p:cNvPr id="14" name="Arrow: Right 13">
            <a:extLst>
              <a:ext uri="{FF2B5EF4-FFF2-40B4-BE49-F238E27FC236}">
                <a16:creationId xmlns:a16="http://schemas.microsoft.com/office/drawing/2014/main" id="{B7EBBCDE-C9F8-4C05-8337-B3C8B3E6D41E}"/>
              </a:ext>
            </a:extLst>
          </p:cNvPr>
          <p:cNvSpPr/>
          <p:nvPr/>
        </p:nvSpPr>
        <p:spPr>
          <a:xfrm rot="16200000">
            <a:off x="3309617" y="5943472"/>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CD38757-9AC5-4C58-A0CC-DEC000C25DD8}"/>
              </a:ext>
            </a:extLst>
          </p:cNvPr>
          <p:cNvSpPr txBox="1"/>
          <p:nvPr/>
        </p:nvSpPr>
        <p:spPr>
          <a:xfrm>
            <a:off x="3370533" y="6396335"/>
            <a:ext cx="396262" cy="461665"/>
          </a:xfrm>
          <a:prstGeom prst="rect">
            <a:avLst/>
          </a:prstGeom>
          <a:noFill/>
        </p:spPr>
        <p:txBody>
          <a:bodyPr wrap="none" rtlCol="0">
            <a:spAutoFit/>
          </a:bodyPr>
          <a:lstStyle/>
          <a:p>
            <a:r>
              <a:rPr lang="en-US" sz="2400" b="1" dirty="0">
                <a:solidFill>
                  <a:srgbClr val="FF0000"/>
                </a:solidFill>
              </a:rPr>
              <a:t>Q</a:t>
            </a:r>
          </a:p>
        </p:txBody>
      </p:sp>
    </p:spTree>
    <p:extLst>
      <p:ext uri="{BB962C8B-B14F-4D97-AF65-F5344CB8AC3E}">
        <p14:creationId xmlns:p14="http://schemas.microsoft.com/office/powerpoint/2010/main" val="4205141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FA4FE28-6E6F-4FAD-9F1D-FCCFC6F531C3}"/>
              </a:ext>
            </a:extLst>
          </p:cNvPr>
          <p:cNvSpPr txBox="1"/>
          <p:nvPr/>
        </p:nvSpPr>
        <p:spPr>
          <a:xfrm>
            <a:off x="262273" y="2063838"/>
            <a:ext cx="8991601" cy="1569660"/>
          </a:xfrm>
          <a:prstGeom prst="rect">
            <a:avLst/>
          </a:prstGeom>
          <a:noFill/>
        </p:spPr>
        <p:txBody>
          <a:bodyPr wrap="square" rtlCol="0">
            <a:spAutoFit/>
          </a:bodyPr>
          <a:lstStyle/>
          <a:p>
            <a:r>
              <a:rPr lang="en-US" sz="2400" b="1" dirty="0">
                <a:solidFill>
                  <a:srgbClr val="FF0000"/>
                </a:solidFill>
              </a:rPr>
              <a:t>Situation : If P cross Q or, </a:t>
            </a:r>
          </a:p>
          <a:p>
            <a:r>
              <a:rPr lang="en-US" sz="2400" b="1" dirty="0">
                <a:solidFill>
                  <a:srgbClr val="FF0000"/>
                </a:solidFill>
              </a:rPr>
              <a:t>Q cross P or,</a:t>
            </a:r>
          </a:p>
          <a:p>
            <a:r>
              <a:rPr lang="en-US" sz="2400" b="1" dirty="0">
                <a:solidFill>
                  <a:srgbClr val="FF0000"/>
                </a:solidFill>
              </a:rPr>
              <a:t>P and Q in the same position</a:t>
            </a:r>
          </a:p>
          <a:p>
            <a:r>
              <a:rPr lang="en-US" sz="2400" b="1" dirty="0">
                <a:solidFill>
                  <a:srgbClr val="FF0000"/>
                </a:solidFill>
              </a:rPr>
              <a:t>Swap Q with Pivot Value</a:t>
            </a:r>
          </a:p>
        </p:txBody>
      </p:sp>
      <p:graphicFrame>
        <p:nvGraphicFramePr>
          <p:cNvPr id="8" name="Table 4">
            <a:extLst>
              <a:ext uri="{FF2B5EF4-FFF2-40B4-BE49-F238E27FC236}">
                <a16:creationId xmlns:a16="http://schemas.microsoft.com/office/drawing/2014/main" id="{044F7BB4-72EF-49DC-A395-923A1B73F40B}"/>
              </a:ext>
            </a:extLst>
          </p:cNvPr>
          <p:cNvGraphicFramePr>
            <a:graphicFrameLocks/>
          </p:cNvGraphicFramePr>
          <p:nvPr>
            <p:extLst>
              <p:ext uri="{D42A27DB-BD31-4B8C-83A1-F6EECF244321}">
                <p14:modId xmlns:p14="http://schemas.microsoft.com/office/powerpoint/2010/main" val="4058505274"/>
              </p:ext>
            </p:extLst>
          </p:nvPr>
        </p:nvGraphicFramePr>
        <p:xfrm>
          <a:off x="58057" y="195944"/>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12" name="Arrow: Right 11">
            <a:extLst>
              <a:ext uri="{FF2B5EF4-FFF2-40B4-BE49-F238E27FC236}">
                <a16:creationId xmlns:a16="http://schemas.microsoft.com/office/drawing/2014/main" id="{6A216720-65E2-4637-8022-B6BAA61397E4}"/>
              </a:ext>
            </a:extLst>
          </p:cNvPr>
          <p:cNvSpPr/>
          <p:nvPr/>
        </p:nvSpPr>
        <p:spPr>
          <a:xfrm rot="16200000">
            <a:off x="4287158" y="1046768"/>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018CEAB-3CCC-43A8-8302-F6B0E9673C63}"/>
              </a:ext>
            </a:extLst>
          </p:cNvPr>
          <p:cNvSpPr txBox="1"/>
          <p:nvPr/>
        </p:nvSpPr>
        <p:spPr>
          <a:xfrm>
            <a:off x="4396164" y="1506742"/>
            <a:ext cx="348172" cy="461665"/>
          </a:xfrm>
          <a:prstGeom prst="rect">
            <a:avLst/>
          </a:prstGeom>
          <a:noFill/>
        </p:spPr>
        <p:txBody>
          <a:bodyPr wrap="square" rtlCol="0">
            <a:spAutoFit/>
          </a:bodyPr>
          <a:lstStyle/>
          <a:p>
            <a:r>
              <a:rPr lang="en-US" sz="2400" b="1" dirty="0">
                <a:solidFill>
                  <a:srgbClr val="FF0000"/>
                </a:solidFill>
              </a:rPr>
              <a:t>P</a:t>
            </a:r>
          </a:p>
        </p:txBody>
      </p:sp>
      <p:sp>
        <p:nvSpPr>
          <p:cNvPr id="14" name="Arrow: Right 13">
            <a:extLst>
              <a:ext uri="{FF2B5EF4-FFF2-40B4-BE49-F238E27FC236}">
                <a16:creationId xmlns:a16="http://schemas.microsoft.com/office/drawing/2014/main" id="{B7EBBCDE-C9F8-4C05-8337-B3C8B3E6D41E}"/>
              </a:ext>
            </a:extLst>
          </p:cNvPr>
          <p:cNvSpPr/>
          <p:nvPr/>
        </p:nvSpPr>
        <p:spPr>
          <a:xfrm rot="16200000">
            <a:off x="3215274" y="1001359"/>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CD38757-9AC5-4C58-A0CC-DEC000C25DD8}"/>
              </a:ext>
            </a:extLst>
          </p:cNvPr>
          <p:cNvSpPr txBox="1"/>
          <p:nvPr/>
        </p:nvSpPr>
        <p:spPr>
          <a:xfrm>
            <a:off x="3276190" y="1454222"/>
            <a:ext cx="396262" cy="461665"/>
          </a:xfrm>
          <a:prstGeom prst="rect">
            <a:avLst/>
          </a:prstGeom>
          <a:noFill/>
        </p:spPr>
        <p:txBody>
          <a:bodyPr wrap="none" rtlCol="0">
            <a:spAutoFit/>
          </a:bodyPr>
          <a:lstStyle/>
          <a:p>
            <a:r>
              <a:rPr lang="en-US" sz="2400" b="1" dirty="0">
                <a:solidFill>
                  <a:srgbClr val="FF0000"/>
                </a:solidFill>
              </a:rPr>
              <a:t>Q</a:t>
            </a:r>
          </a:p>
        </p:txBody>
      </p:sp>
      <p:graphicFrame>
        <p:nvGraphicFramePr>
          <p:cNvPr id="16" name="Table 4">
            <a:extLst>
              <a:ext uri="{FF2B5EF4-FFF2-40B4-BE49-F238E27FC236}">
                <a16:creationId xmlns:a16="http://schemas.microsoft.com/office/drawing/2014/main" id="{76F38FF2-F4DF-4186-92E5-B87B51686B0D}"/>
              </a:ext>
            </a:extLst>
          </p:cNvPr>
          <p:cNvGraphicFramePr>
            <a:graphicFrameLocks/>
          </p:cNvGraphicFramePr>
          <p:nvPr>
            <p:extLst>
              <p:ext uri="{D42A27DB-BD31-4B8C-83A1-F6EECF244321}">
                <p14:modId xmlns:p14="http://schemas.microsoft.com/office/powerpoint/2010/main" val="2836796814"/>
              </p:ext>
            </p:extLst>
          </p:nvPr>
        </p:nvGraphicFramePr>
        <p:xfrm>
          <a:off x="262273" y="3844061"/>
          <a:ext cx="8229593" cy="762000"/>
        </p:xfrm>
        <a:graphic>
          <a:graphicData uri="http://schemas.openxmlformats.org/drawingml/2006/table">
            <a:tbl>
              <a:tblPr firstRow="1" bandRow="1">
                <a:solidFill>
                  <a:srgbClr val="92D050"/>
                </a:solidFill>
                <a:tableStyleId>{5C22544A-7EE6-4342-B048-85BDC9FD1C3A}</a:tableStyleId>
              </a:tblPr>
              <a:tblGrid>
                <a:gridCol w="717431">
                  <a:extLst>
                    <a:ext uri="{9D8B030D-6E8A-4147-A177-3AD203B41FA5}">
                      <a16:colId xmlns:a16="http://schemas.microsoft.com/office/drawing/2014/main" val="1096520267"/>
                    </a:ext>
                  </a:extLst>
                </a:gridCol>
                <a:gridCol w="1073166">
                  <a:extLst>
                    <a:ext uri="{9D8B030D-6E8A-4147-A177-3AD203B41FA5}">
                      <a16:colId xmlns:a16="http://schemas.microsoft.com/office/drawing/2014/main" val="1597508670"/>
                    </a:ext>
                  </a:extLst>
                </a:gridCol>
                <a:gridCol w="1073166">
                  <a:extLst>
                    <a:ext uri="{9D8B030D-6E8A-4147-A177-3AD203B41FA5}">
                      <a16:colId xmlns:a16="http://schemas.microsoft.com/office/drawing/2014/main" val="1795164615"/>
                    </a:ext>
                  </a:extLst>
                </a:gridCol>
                <a:gridCol w="1073166">
                  <a:extLst>
                    <a:ext uri="{9D8B030D-6E8A-4147-A177-3AD203B41FA5}">
                      <a16:colId xmlns:a16="http://schemas.microsoft.com/office/drawing/2014/main" val="783327905"/>
                    </a:ext>
                  </a:extLst>
                </a:gridCol>
                <a:gridCol w="1073166">
                  <a:extLst>
                    <a:ext uri="{9D8B030D-6E8A-4147-A177-3AD203B41FA5}">
                      <a16:colId xmlns:a16="http://schemas.microsoft.com/office/drawing/2014/main" val="3754801358"/>
                    </a:ext>
                  </a:extLst>
                </a:gridCol>
                <a:gridCol w="1073166">
                  <a:extLst>
                    <a:ext uri="{9D8B030D-6E8A-4147-A177-3AD203B41FA5}">
                      <a16:colId xmlns:a16="http://schemas.microsoft.com/office/drawing/2014/main" val="2529746520"/>
                    </a:ext>
                  </a:extLst>
                </a:gridCol>
                <a:gridCol w="1073166">
                  <a:extLst>
                    <a:ext uri="{9D8B030D-6E8A-4147-A177-3AD203B41FA5}">
                      <a16:colId xmlns:a16="http://schemas.microsoft.com/office/drawing/2014/main" val="927755756"/>
                    </a:ext>
                  </a:extLst>
                </a:gridCol>
                <a:gridCol w="1073166">
                  <a:extLst>
                    <a:ext uri="{9D8B030D-6E8A-4147-A177-3AD203B41FA5}">
                      <a16:colId xmlns:a16="http://schemas.microsoft.com/office/drawing/2014/main" val="26447771"/>
                    </a:ext>
                  </a:extLst>
                </a:gridCol>
              </a:tblGrid>
              <a:tr h="762000">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41234431"/>
                  </a:ext>
                </a:extLst>
              </a:tr>
            </a:tbl>
          </a:graphicData>
        </a:graphic>
      </p:graphicFrame>
      <p:sp>
        <p:nvSpPr>
          <p:cNvPr id="17" name="Arrow: Right 16">
            <a:extLst>
              <a:ext uri="{FF2B5EF4-FFF2-40B4-BE49-F238E27FC236}">
                <a16:creationId xmlns:a16="http://schemas.microsoft.com/office/drawing/2014/main" id="{696D0297-C068-4AED-89D5-FB1F9765BC7E}"/>
              </a:ext>
            </a:extLst>
          </p:cNvPr>
          <p:cNvSpPr/>
          <p:nvPr/>
        </p:nvSpPr>
        <p:spPr>
          <a:xfrm rot="16200000">
            <a:off x="4477636" y="4713954"/>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C75E51D-EF56-45D0-A079-0CE7ECD3581A}"/>
              </a:ext>
            </a:extLst>
          </p:cNvPr>
          <p:cNvSpPr txBox="1"/>
          <p:nvPr/>
        </p:nvSpPr>
        <p:spPr>
          <a:xfrm>
            <a:off x="4555569" y="5158449"/>
            <a:ext cx="348172" cy="461665"/>
          </a:xfrm>
          <a:prstGeom prst="rect">
            <a:avLst/>
          </a:prstGeom>
          <a:noFill/>
        </p:spPr>
        <p:txBody>
          <a:bodyPr wrap="square" rtlCol="0">
            <a:spAutoFit/>
          </a:bodyPr>
          <a:lstStyle/>
          <a:p>
            <a:r>
              <a:rPr lang="en-US" sz="2400" b="1" dirty="0">
                <a:solidFill>
                  <a:srgbClr val="FF0000"/>
                </a:solidFill>
              </a:rPr>
              <a:t>P</a:t>
            </a:r>
          </a:p>
        </p:txBody>
      </p:sp>
      <p:sp>
        <p:nvSpPr>
          <p:cNvPr id="19" name="Arrow: Right 18">
            <a:extLst>
              <a:ext uri="{FF2B5EF4-FFF2-40B4-BE49-F238E27FC236}">
                <a16:creationId xmlns:a16="http://schemas.microsoft.com/office/drawing/2014/main" id="{CEA9CD0D-6DD8-4B0B-B340-F2B89B4E22CD}"/>
              </a:ext>
            </a:extLst>
          </p:cNvPr>
          <p:cNvSpPr/>
          <p:nvPr/>
        </p:nvSpPr>
        <p:spPr>
          <a:xfrm rot="16200000">
            <a:off x="3405752" y="4668545"/>
            <a:ext cx="533400" cy="408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DB24B6D-A928-4358-9B65-127DCC0F9588}"/>
              </a:ext>
            </a:extLst>
          </p:cNvPr>
          <p:cNvSpPr txBox="1"/>
          <p:nvPr/>
        </p:nvSpPr>
        <p:spPr>
          <a:xfrm>
            <a:off x="3466668" y="5121408"/>
            <a:ext cx="396262" cy="461665"/>
          </a:xfrm>
          <a:prstGeom prst="rect">
            <a:avLst/>
          </a:prstGeom>
          <a:noFill/>
        </p:spPr>
        <p:txBody>
          <a:bodyPr wrap="none" rtlCol="0">
            <a:spAutoFit/>
          </a:bodyPr>
          <a:lstStyle/>
          <a:p>
            <a:r>
              <a:rPr lang="en-US" sz="2400" b="1" dirty="0">
                <a:solidFill>
                  <a:srgbClr val="FF0000"/>
                </a:solidFill>
              </a:rPr>
              <a:t>Q</a:t>
            </a:r>
          </a:p>
        </p:txBody>
      </p:sp>
      <p:sp>
        <p:nvSpPr>
          <p:cNvPr id="2" name="TextBox 1">
            <a:extLst>
              <a:ext uri="{FF2B5EF4-FFF2-40B4-BE49-F238E27FC236}">
                <a16:creationId xmlns:a16="http://schemas.microsoft.com/office/drawing/2014/main" id="{C96AD542-4187-4E2E-979C-B2D8D0D3620C}"/>
              </a:ext>
            </a:extLst>
          </p:cNvPr>
          <p:cNvSpPr txBox="1"/>
          <p:nvPr/>
        </p:nvSpPr>
        <p:spPr>
          <a:xfrm>
            <a:off x="101600" y="5593692"/>
            <a:ext cx="9882378" cy="707886"/>
          </a:xfrm>
          <a:prstGeom prst="rect">
            <a:avLst/>
          </a:prstGeom>
          <a:noFill/>
        </p:spPr>
        <p:txBody>
          <a:bodyPr wrap="square" rtlCol="0">
            <a:spAutoFit/>
          </a:bodyPr>
          <a:lstStyle/>
          <a:p>
            <a:r>
              <a:rPr lang="en-US" sz="2000" dirty="0"/>
              <a:t>AS you can observe less then 35 all elements are in left side and more then 35 all </a:t>
            </a:r>
          </a:p>
          <a:p>
            <a:r>
              <a:rPr lang="en-US" sz="2000" dirty="0"/>
              <a:t>elements are right side</a:t>
            </a:r>
          </a:p>
        </p:txBody>
      </p:sp>
    </p:spTree>
    <p:extLst>
      <p:ext uri="{BB962C8B-B14F-4D97-AF65-F5344CB8AC3E}">
        <p14:creationId xmlns:p14="http://schemas.microsoft.com/office/powerpoint/2010/main" val="307543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5C77DA0-3FD6-4F14-A5D0-1381CEB4DF7A}"/>
              </a:ext>
            </a:extLst>
          </p:cNvPr>
          <p:cNvGraphicFramePr>
            <a:graphicFrameLocks noGrp="1"/>
          </p:cNvGraphicFramePr>
          <p:nvPr>
            <p:extLst>
              <p:ext uri="{D42A27DB-BD31-4B8C-83A1-F6EECF244321}">
                <p14:modId xmlns:p14="http://schemas.microsoft.com/office/powerpoint/2010/main" val="3283142791"/>
              </p:ext>
            </p:extLst>
          </p:nvPr>
        </p:nvGraphicFramePr>
        <p:xfrm>
          <a:off x="914400" y="1066800"/>
          <a:ext cx="7696200" cy="2590800"/>
        </p:xfrm>
        <a:graphic>
          <a:graphicData uri="http://schemas.openxmlformats.org/drawingml/2006/table">
            <a:tbl>
              <a:tblPr firstRow="1" bandRow="1">
                <a:tableStyleId>{5C22544A-7EE6-4342-B048-85BDC9FD1C3A}</a:tableStyleId>
              </a:tblPr>
              <a:tblGrid>
                <a:gridCol w="962025">
                  <a:extLst>
                    <a:ext uri="{9D8B030D-6E8A-4147-A177-3AD203B41FA5}">
                      <a16:colId xmlns:a16="http://schemas.microsoft.com/office/drawing/2014/main" val="444119819"/>
                    </a:ext>
                  </a:extLst>
                </a:gridCol>
                <a:gridCol w="962025">
                  <a:extLst>
                    <a:ext uri="{9D8B030D-6E8A-4147-A177-3AD203B41FA5}">
                      <a16:colId xmlns:a16="http://schemas.microsoft.com/office/drawing/2014/main" val="261732827"/>
                    </a:ext>
                  </a:extLst>
                </a:gridCol>
                <a:gridCol w="962025">
                  <a:extLst>
                    <a:ext uri="{9D8B030D-6E8A-4147-A177-3AD203B41FA5}">
                      <a16:colId xmlns:a16="http://schemas.microsoft.com/office/drawing/2014/main" val="4250213195"/>
                    </a:ext>
                  </a:extLst>
                </a:gridCol>
                <a:gridCol w="962025">
                  <a:extLst>
                    <a:ext uri="{9D8B030D-6E8A-4147-A177-3AD203B41FA5}">
                      <a16:colId xmlns:a16="http://schemas.microsoft.com/office/drawing/2014/main" val="3500039823"/>
                    </a:ext>
                  </a:extLst>
                </a:gridCol>
                <a:gridCol w="962025">
                  <a:extLst>
                    <a:ext uri="{9D8B030D-6E8A-4147-A177-3AD203B41FA5}">
                      <a16:colId xmlns:a16="http://schemas.microsoft.com/office/drawing/2014/main" val="2882659561"/>
                    </a:ext>
                  </a:extLst>
                </a:gridCol>
                <a:gridCol w="962025">
                  <a:extLst>
                    <a:ext uri="{9D8B030D-6E8A-4147-A177-3AD203B41FA5}">
                      <a16:colId xmlns:a16="http://schemas.microsoft.com/office/drawing/2014/main" val="322558866"/>
                    </a:ext>
                  </a:extLst>
                </a:gridCol>
                <a:gridCol w="962025">
                  <a:extLst>
                    <a:ext uri="{9D8B030D-6E8A-4147-A177-3AD203B41FA5}">
                      <a16:colId xmlns:a16="http://schemas.microsoft.com/office/drawing/2014/main" val="4251689169"/>
                    </a:ext>
                  </a:extLst>
                </a:gridCol>
                <a:gridCol w="962025">
                  <a:extLst>
                    <a:ext uri="{9D8B030D-6E8A-4147-A177-3AD203B41FA5}">
                      <a16:colId xmlns:a16="http://schemas.microsoft.com/office/drawing/2014/main" val="1565329774"/>
                    </a:ext>
                  </a:extLst>
                </a:gridCol>
              </a:tblGrid>
              <a:tr h="502920">
                <a:tc>
                  <a:txBody>
                    <a:bodyPr/>
                    <a:lstStyle/>
                    <a:p>
                      <a:r>
                        <a:rPr lang="en-US" sz="2800" b="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70241910"/>
                  </a:ext>
                </a:extLst>
              </a:tr>
              <a:tr h="502920">
                <a:tc>
                  <a:txBody>
                    <a:bodyPr/>
                    <a:lstStyle/>
                    <a:p>
                      <a:r>
                        <a:rPr lang="en-US" sz="2800" b="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373288179"/>
                  </a:ext>
                </a:extLst>
              </a:tr>
              <a:tr h="502920">
                <a:tc>
                  <a:txBody>
                    <a:bodyPr/>
                    <a:lstStyle/>
                    <a:p>
                      <a:r>
                        <a:rPr lang="en-US" sz="2800" b="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966602622"/>
                  </a:ext>
                </a:extLst>
              </a:tr>
              <a:tr h="50292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408702161"/>
                  </a:ext>
                </a:extLst>
              </a:tr>
              <a:tr h="502920">
                <a:tc>
                  <a:txBody>
                    <a:bodyPr/>
                    <a:lstStyle/>
                    <a:p>
                      <a:r>
                        <a:rPr lang="en-US" sz="2800" dirty="0">
                          <a:solidFill>
                            <a:srgbClr val="FF0000"/>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113235166"/>
                  </a:ext>
                </a:extLst>
              </a:tr>
            </a:tbl>
          </a:graphicData>
        </a:graphic>
      </p:graphicFrame>
      <p:sp>
        <p:nvSpPr>
          <p:cNvPr id="5" name="Arrow: Right 4">
            <a:extLst>
              <a:ext uri="{FF2B5EF4-FFF2-40B4-BE49-F238E27FC236}">
                <a16:creationId xmlns:a16="http://schemas.microsoft.com/office/drawing/2014/main" id="{2E8B618C-E5F2-4FC4-96F4-DBB42F566A7B}"/>
              </a:ext>
            </a:extLst>
          </p:cNvPr>
          <p:cNvSpPr/>
          <p:nvPr/>
        </p:nvSpPr>
        <p:spPr>
          <a:xfrm>
            <a:off x="685800" y="1219200"/>
            <a:ext cx="228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CD93A49B-5025-4409-8D0D-2EB82224C7D7}"/>
              </a:ext>
            </a:extLst>
          </p:cNvPr>
          <p:cNvSpPr/>
          <p:nvPr/>
        </p:nvSpPr>
        <p:spPr>
          <a:xfrm>
            <a:off x="2438400" y="17526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87526D4-7C75-48CC-AC45-2987442FCA27}"/>
              </a:ext>
            </a:extLst>
          </p:cNvPr>
          <p:cNvSpPr/>
          <p:nvPr/>
        </p:nvSpPr>
        <p:spPr>
          <a:xfrm rot="5111450">
            <a:off x="8153400" y="1752600"/>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E0440FF-5C31-43D8-9632-0E7843855FC3}"/>
              </a:ext>
            </a:extLst>
          </p:cNvPr>
          <p:cNvSpPr/>
          <p:nvPr/>
        </p:nvSpPr>
        <p:spPr>
          <a:xfrm>
            <a:off x="2438400" y="23241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8FE11F84-A36B-4FA8-BD36-417ADD72CBC2}"/>
              </a:ext>
            </a:extLst>
          </p:cNvPr>
          <p:cNvSpPr/>
          <p:nvPr/>
        </p:nvSpPr>
        <p:spPr>
          <a:xfrm rot="5111450">
            <a:off x="6286503" y="2211615"/>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8E6BA66-4213-4B93-A578-B8D3505FF046}"/>
              </a:ext>
            </a:extLst>
          </p:cNvPr>
          <p:cNvSpPr/>
          <p:nvPr/>
        </p:nvSpPr>
        <p:spPr>
          <a:xfrm>
            <a:off x="2438400" y="2810329"/>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A1D6D56D-D839-4171-BCF4-95A7A7D995F9}"/>
              </a:ext>
            </a:extLst>
          </p:cNvPr>
          <p:cNvSpPr/>
          <p:nvPr/>
        </p:nvSpPr>
        <p:spPr>
          <a:xfrm rot="5111450">
            <a:off x="6286501" y="276432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0165971C-0C49-42ED-A04B-596BFC89157B}"/>
              </a:ext>
            </a:extLst>
          </p:cNvPr>
          <p:cNvSpPr/>
          <p:nvPr/>
        </p:nvSpPr>
        <p:spPr>
          <a:xfrm>
            <a:off x="5334000" y="32766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15">
            <a:extLst>
              <a:ext uri="{FF2B5EF4-FFF2-40B4-BE49-F238E27FC236}">
                <a16:creationId xmlns:a16="http://schemas.microsoft.com/office/drawing/2014/main" id="{11E827F8-2513-4EDC-8860-A83B0CE25070}"/>
              </a:ext>
            </a:extLst>
          </p:cNvPr>
          <p:cNvGraphicFramePr>
            <a:graphicFrameLocks noGrp="1"/>
          </p:cNvGraphicFramePr>
          <p:nvPr>
            <p:extLst>
              <p:ext uri="{D42A27DB-BD31-4B8C-83A1-F6EECF244321}">
                <p14:modId xmlns:p14="http://schemas.microsoft.com/office/powerpoint/2010/main" val="3421550452"/>
              </p:ext>
            </p:extLst>
          </p:nvPr>
        </p:nvGraphicFramePr>
        <p:xfrm>
          <a:off x="914399" y="3733800"/>
          <a:ext cx="7696200" cy="1219200"/>
        </p:xfrm>
        <a:graphic>
          <a:graphicData uri="http://schemas.openxmlformats.org/drawingml/2006/table">
            <a:tbl>
              <a:tblPr firstRow="1" bandRow="1">
                <a:tableStyleId>{5C22544A-7EE6-4342-B048-85BDC9FD1C3A}</a:tableStyleId>
              </a:tblPr>
              <a:tblGrid>
                <a:gridCol w="962025">
                  <a:extLst>
                    <a:ext uri="{9D8B030D-6E8A-4147-A177-3AD203B41FA5}">
                      <a16:colId xmlns:a16="http://schemas.microsoft.com/office/drawing/2014/main" val="978068048"/>
                    </a:ext>
                  </a:extLst>
                </a:gridCol>
                <a:gridCol w="962025">
                  <a:extLst>
                    <a:ext uri="{9D8B030D-6E8A-4147-A177-3AD203B41FA5}">
                      <a16:colId xmlns:a16="http://schemas.microsoft.com/office/drawing/2014/main" val="1030561029"/>
                    </a:ext>
                  </a:extLst>
                </a:gridCol>
                <a:gridCol w="962025">
                  <a:extLst>
                    <a:ext uri="{9D8B030D-6E8A-4147-A177-3AD203B41FA5}">
                      <a16:colId xmlns:a16="http://schemas.microsoft.com/office/drawing/2014/main" val="2739141007"/>
                    </a:ext>
                  </a:extLst>
                </a:gridCol>
                <a:gridCol w="962025">
                  <a:extLst>
                    <a:ext uri="{9D8B030D-6E8A-4147-A177-3AD203B41FA5}">
                      <a16:colId xmlns:a16="http://schemas.microsoft.com/office/drawing/2014/main" val="3637263635"/>
                    </a:ext>
                  </a:extLst>
                </a:gridCol>
                <a:gridCol w="962025">
                  <a:extLst>
                    <a:ext uri="{9D8B030D-6E8A-4147-A177-3AD203B41FA5}">
                      <a16:colId xmlns:a16="http://schemas.microsoft.com/office/drawing/2014/main" val="153080881"/>
                    </a:ext>
                  </a:extLst>
                </a:gridCol>
                <a:gridCol w="962025">
                  <a:extLst>
                    <a:ext uri="{9D8B030D-6E8A-4147-A177-3AD203B41FA5}">
                      <a16:colId xmlns:a16="http://schemas.microsoft.com/office/drawing/2014/main" val="424637317"/>
                    </a:ext>
                  </a:extLst>
                </a:gridCol>
                <a:gridCol w="962025">
                  <a:extLst>
                    <a:ext uri="{9D8B030D-6E8A-4147-A177-3AD203B41FA5}">
                      <a16:colId xmlns:a16="http://schemas.microsoft.com/office/drawing/2014/main" val="2860196778"/>
                    </a:ext>
                  </a:extLst>
                </a:gridCol>
                <a:gridCol w="962025">
                  <a:extLst>
                    <a:ext uri="{9D8B030D-6E8A-4147-A177-3AD203B41FA5}">
                      <a16:colId xmlns:a16="http://schemas.microsoft.com/office/drawing/2014/main" val="1111727761"/>
                    </a:ext>
                  </a:extLst>
                </a:gridCol>
              </a:tblGrid>
              <a:tr h="609600">
                <a:tc>
                  <a:txBody>
                    <a:bodyPr/>
                    <a:lstStyle/>
                    <a:p>
                      <a:r>
                        <a:rPr lang="en-US" sz="2800" dirty="0">
                          <a:solidFill>
                            <a:srgbClr val="FF0000"/>
                          </a:solidFill>
                        </a:rPr>
                        <a:t>35</a:t>
                      </a:r>
                    </a:p>
                  </a:txBody>
                  <a:tcPr>
                    <a:solidFill>
                      <a:srgbClr val="FFFF00"/>
                    </a:solidFill>
                  </a:tcPr>
                </a:tc>
                <a:tc>
                  <a:txBody>
                    <a:bodyPr/>
                    <a:lstStyle/>
                    <a:p>
                      <a:r>
                        <a:rPr lang="en-US" sz="2800" dirty="0">
                          <a:solidFill>
                            <a:srgbClr val="FF0000"/>
                          </a:solidFill>
                        </a:rPr>
                        <a:t>20</a:t>
                      </a:r>
                    </a:p>
                  </a:txBody>
                  <a:tcPr>
                    <a:solidFill>
                      <a:srgbClr val="FFFF00"/>
                    </a:solidFill>
                  </a:tcPr>
                </a:tc>
                <a:tc>
                  <a:txBody>
                    <a:bodyPr/>
                    <a:lstStyle/>
                    <a:p>
                      <a:r>
                        <a:rPr lang="en-US" sz="2800" dirty="0">
                          <a:solidFill>
                            <a:srgbClr val="FF0000"/>
                          </a:solidFill>
                        </a:rPr>
                        <a:t>15</a:t>
                      </a:r>
                    </a:p>
                  </a:txBody>
                  <a:tcPr>
                    <a:solidFill>
                      <a:srgbClr val="FFFF00"/>
                    </a:solidFill>
                  </a:tcPr>
                </a:tc>
                <a:tc>
                  <a:txBody>
                    <a:bodyPr/>
                    <a:lstStyle/>
                    <a:p>
                      <a:r>
                        <a:rPr lang="en-US" sz="2800" dirty="0">
                          <a:solidFill>
                            <a:srgbClr val="FF0000"/>
                          </a:solidFill>
                        </a:rPr>
                        <a:t>25</a:t>
                      </a:r>
                    </a:p>
                  </a:txBody>
                  <a:tcPr>
                    <a:solidFill>
                      <a:srgbClr val="FFFF00"/>
                    </a:solidFill>
                  </a:tcPr>
                </a:tc>
                <a:tc>
                  <a:txBody>
                    <a:bodyPr/>
                    <a:lstStyle/>
                    <a:p>
                      <a:r>
                        <a:rPr lang="en-US" sz="2800" dirty="0">
                          <a:solidFill>
                            <a:srgbClr val="FF0000"/>
                          </a:solidFill>
                        </a:rPr>
                        <a:t>80</a:t>
                      </a:r>
                    </a:p>
                  </a:txBody>
                  <a:tcPr>
                    <a:solidFill>
                      <a:srgbClr val="FFFF00"/>
                    </a:solidFill>
                  </a:tcPr>
                </a:tc>
                <a:tc>
                  <a:txBody>
                    <a:bodyPr/>
                    <a:lstStyle/>
                    <a:p>
                      <a:r>
                        <a:rPr lang="en-US" sz="2800" dirty="0">
                          <a:solidFill>
                            <a:srgbClr val="FF0000"/>
                          </a:solidFill>
                        </a:rPr>
                        <a:t>50</a:t>
                      </a:r>
                    </a:p>
                  </a:txBody>
                  <a:tcPr>
                    <a:solidFill>
                      <a:srgbClr val="FFFF00"/>
                    </a:solidFill>
                  </a:tcPr>
                </a:tc>
                <a:tc>
                  <a:txBody>
                    <a:bodyPr/>
                    <a:lstStyle/>
                    <a:p>
                      <a:r>
                        <a:rPr lang="en-US" sz="2800" dirty="0">
                          <a:solidFill>
                            <a:srgbClr val="FF0000"/>
                          </a:solidFill>
                        </a:rPr>
                        <a:t>90</a:t>
                      </a:r>
                    </a:p>
                  </a:txBody>
                  <a:tcPr>
                    <a:solidFill>
                      <a:srgbClr val="FFFF00"/>
                    </a:solidFill>
                  </a:tcPr>
                </a:tc>
                <a:tc>
                  <a:txBody>
                    <a:bodyPr/>
                    <a:lstStyle/>
                    <a:p>
                      <a:r>
                        <a:rPr lang="en-US" sz="2800" dirty="0">
                          <a:solidFill>
                            <a:srgbClr val="FF0000"/>
                          </a:solidFill>
                        </a:rPr>
                        <a:t>45</a:t>
                      </a:r>
                    </a:p>
                  </a:txBody>
                  <a:tcPr>
                    <a:solidFill>
                      <a:srgbClr val="FFFF00"/>
                    </a:solidFill>
                  </a:tcPr>
                </a:tc>
                <a:extLst>
                  <a:ext uri="{0D108BD9-81ED-4DB2-BD59-A6C34878D82A}">
                    <a16:rowId xmlns:a16="http://schemas.microsoft.com/office/drawing/2014/main" val="3154015252"/>
                  </a:ext>
                </a:extLst>
              </a:tr>
              <a:tr h="609600">
                <a:tc>
                  <a:txBody>
                    <a:bodyPr/>
                    <a:lstStyle/>
                    <a:p>
                      <a:r>
                        <a:rPr lang="en-US" sz="2800" dirty="0">
                          <a:solidFill>
                            <a:srgbClr val="FF0000"/>
                          </a:solidFill>
                        </a:rPr>
                        <a:t>25</a:t>
                      </a:r>
                    </a:p>
                  </a:txBody>
                  <a:tcPr>
                    <a:solidFill>
                      <a:srgbClr val="FFFF00"/>
                    </a:solidFill>
                  </a:tcPr>
                </a:tc>
                <a:tc>
                  <a:txBody>
                    <a:bodyPr/>
                    <a:lstStyle/>
                    <a:p>
                      <a:r>
                        <a:rPr lang="en-US" sz="2800" dirty="0">
                          <a:solidFill>
                            <a:srgbClr val="FF0000"/>
                          </a:solidFill>
                        </a:rPr>
                        <a:t>20</a:t>
                      </a:r>
                    </a:p>
                  </a:txBody>
                  <a:tcPr>
                    <a:solidFill>
                      <a:srgbClr val="FFFF00"/>
                    </a:solidFill>
                  </a:tcPr>
                </a:tc>
                <a:tc>
                  <a:txBody>
                    <a:bodyPr/>
                    <a:lstStyle/>
                    <a:p>
                      <a:r>
                        <a:rPr lang="en-US" sz="2800" dirty="0">
                          <a:solidFill>
                            <a:srgbClr val="FF0000"/>
                          </a:solidFill>
                        </a:rPr>
                        <a:t>15</a:t>
                      </a:r>
                    </a:p>
                  </a:txBody>
                  <a:tcPr>
                    <a:solidFill>
                      <a:srgbClr val="FFFF00"/>
                    </a:solidFill>
                  </a:tcPr>
                </a:tc>
                <a:tc>
                  <a:txBody>
                    <a:bodyPr/>
                    <a:lstStyle/>
                    <a:p>
                      <a:r>
                        <a:rPr lang="en-US" sz="2800" dirty="0">
                          <a:solidFill>
                            <a:srgbClr val="FF0000"/>
                          </a:solidFill>
                        </a:rPr>
                        <a:t>35</a:t>
                      </a:r>
                    </a:p>
                  </a:txBody>
                  <a:tcPr>
                    <a:solidFill>
                      <a:srgbClr val="FFFF00"/>
                    </a:solidFill>
                  </a:tcPr>
                </a:tc>
                <a:tc>
                  <a:txBody>
                    <a:bodyPr/>
                    <a:lstStyle/>
                    <a:p>
                      <a:r>
                        <a:rPr lang="en-US" sz="2800" dirty="0">
                          <a:solidFill>
                            <a:srgbClr val="FF0000"/>
                          </a:solidFill>
                        </a:rPr>
                        <a:t>80</a:t>
                      </a:r>
                    </a:p>
                  </a:txBody>
                  <a:tcPr>
                    <a:solidFill>
                      <a:srgbClr val="FFFF00"/>
                    </a:solidFill>
                  </a:tcPr>
                </a:tc>
                <a:tc>
                  <a:txBody>
                    <a:bodyPr/>
                    <a:lstStyle/>
                    <a:p>
                      <a:r>
                        <a:rPr lang="en-US" sz="2800" dirty="0">
                          <a:solidFill>
                            <a:srgbClr val="FF0000"/>
                          </a:solidFill>
                        </a:rPr>
                        <a:t>50</a:t>
                      </a:r>
                    </a:p>
                  </a:txBody>
                  <a:tcPr>
                    <a:solidFill>
                      <a:srgbClr val="FFFF00"/>
                    </a:solidFill>
                  </a:tcPr>
                </a:tc>
                <a:tc>
                  <a:txBody>
                    <a:bodyPr/>
                    <a:lstStyle/>
                    <a:p>
                      <a:r>
                        <a:rPr lang="en-US" sz="2800" dirty="0">
                          <a:solidFill>
                            <a:srgbClr val="FF0000"/>
                          </a:solidFill>
                        </a:rPr>
                        <a:t>90</a:t>
                      </a:r>
                    </a:p>
                  </a:txBody>
                  <a:tcPr>
                    <a:solidFill>
                      <a:srgbClr val="FFFF00"/>
                    </a:solidFill>
                  </a:tcPr>
                </a:tc>
                <a:tc>
                  <a:txBody>
                    <a:bodyPr/>
                    <a:lstStyle/>
                    <a:p>
                      <a:r>
                        <a:rPr lang="en-US" sz="2800" dirty="0">
                          <a:solidFill>
                            <a:srgbClr val="FF0000"/>
                          </a:solidFill>
                        </a:rPr>
                        <a:t>45</a:t>
                      </a:r>
                    </a:p>
                  </a:txBody>
                  <a:tcPr>
                    <a:solidFill>
                      <a:srgbClr val="FFFF00"/>
                    </a:solidFill>
                  </a:tcPr>
                </a:tc>
                <a:extLst>
                  <a:ext uri="{0D108BD9-81ED-4DB2-BD59-A6C34878D82A}">
                    <a16:rowId xmlns:a16="http://schemas.microsoft.com/office/drawing/2014/main" val="2447771812"/>
                  </a:ext>
                </a:extLst>
              </a:tr>
            </a:tbl>
          </a:graphicData>
        </a:graphic>
      </p:graphicFrame>
      <p:sp>
        <p:nvSpPr>
          <p:cNvPr id="16" name="Arrow: Down 15">
            <a:extLst>
              <a:ext uri="{FF2B5EF4-FFF2-40B4-BE49-F238E27FC236}">
                <a16:creationId xmlns:a16="http://schemas.microsoft.com/office/drawing/2014/main" id="{775DF21B-03D6-4013-AA18-4ABAED302B23}"/>
              </a:ext>
            </a:extLst>
          </p:cNvPr>
          <p:cNvSpPr/>
          <p:nvPr/>
        </p:nvSpPr>
        <p:spPr>
          <a:xfrm rot="5111450">
            <a:off x="4296254" y="4064326"/>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23B4737B-73F1-4277-A5AA-A35D7305206E}"/>
              </a:ext>
            </a:extLst>
          </p:cNvPr>
          <p:cNvSpPr/>
          <p:nvPr/>
        </p:nvSpPr>
        <p:spPr>
          <a:xfrm>
            <a:off x="5310554" y="40386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Brace 20">
            <a:extLst>
              <a:ext uri="{FF2B5EF4-FFF2-40B4-BE49-F238E27FC236}">
                <a16:creationId xmlns:a16="http://schemas.microsoft.com/office/drawing/2014/main" id="{8B167E13-5A10-47EF-9DCF-423EED3964D0}"/>
              </a:ext>
            </a:extLst>
          </p:cNvPr>
          <p:cNvSpPr/>
          <p:nvPr/>
        </p:nvSpPr>
        <p:spPr>
          <a:xfrm>
            <a:off x="175846" y="1066800"/>
            <a:ext cx="509954" cy="3886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4045FFA5-D35C-44F0-BCFA-6EF3DE1C4A60}"/>
              </a:ext>
            </a:extLst>
          </p:cNvPr>
          <p:cNvSpPr txBox="1"/>
          <p:nvPr/>
        </p:nvSpPr>
        <p:spPr>
          <a:xfrm>
            <a:off x="0" y="2324100"/>
            <a:ext cx="772484" cy="646331"/>
          </a:xfrm>
          <a:prstGeom prst="rect">
            <a:avLst/>
          </a:prstGeom>
          <a:noFill/>
        </p:spPr>
        <p:txBody>
          <a:bodyPr wrap="square" rtlCol="0">
            <a:spAutoFit/>
          </a:bodyPr>
          <a:lstStyle/>
          <a:p>
            <a:r>
              <a:rPr lang="en-US" dirty="0"/>
              <a:t>1</a:t>
            </a:r>
            <a:r>
              <a:rPr lang="en-US" baseline="30000" dirty="0"/>
              <a:t>st</a:t>
            </a:r>
            <a:r>
              <a:rPr lang="en-US" dirty="0"/>
              <a:t> </a:t>
            </a:r>
          </a:p>
          <a:p>
            <a:r>
              <a:rPr lang="en-US" dirty="0"/>
              <a:t>pass</a:t>
            </a:r>
          </a:p>
        </p:txBody>
      </p:sp>
      <p:cxnSp>
        <p:nvCxnSpPr>
          <p:cNvPr id="24" name="Straight Arrow Connector 23">
            <a:extLst>
              <a:ext uri="{FF2B5EF4-FFF2-40B4-BE49-F238E27FC236}">
                <a16:creationId xmlns:a16="http://schemas.microsoft.com/office/drawing/2014/main" id="{52A1CC29-2FEE-42A6-98B2-1F333285C73C}"/>
              </a:ext>
            </a:extLst>
          </p:cNvPr>
          <p:cNvCxnSpPr/>
          <p:nvPr/>
        </p:nvCxnSpPr>
        <p:spPr>
          <a:xfrm flipH="1">
            <a:off x="2133600" y="4953000"/>
            <a:ext cx="190500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A544E4-983F-4F6E-98FA-96708BC12669}"/>
              </a:ext>
            </a:extLst>
          </p:cNvPr>
          <p:cNvCxnSpPr/>
          <p:nvPr/>
        </p:nvCxnSpPr>
        <p:spPr>
          <a:xfrm>
            <a:off x="4038600" y="4953000"/>
            <a:ext cx="1752600"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D10A548-3599-4BB4-8960-99B7898CBAF0}"/>
              </a:ext>
            </a:extLst>
          </p:cNvPr>
          <p:cNvSpPr txBox="1"/>
          <p:nvPr/>
        </p:nvSpPr>
        <p:spPr>
          <a:xfrm>
            <a:off x="4876800" y="5334000"/>
            <a:ext cx="1346844" cy="369332"/>
          </a:xfrm>
          <a:prstGeom prst="rect">
            <a:avLst/>
          </a:prstGeom>
          <a:noFill/>
        </p:spPr>
        <p:txBody>
          <a:bodyPr wrap="none" rtlCol="0">
            <a:spAutoFit/>
          </a:bodyPr>
          <a:lstStyle/>
          <a:p>
            <a:r>
              <a:rPr lang="en-US" dirty="0"/>
              <a:t>80, 50,90,45</a:t>
            </a:r>
          </a:p>
        </p:txBody>
      </p:sp>
      <p:sp>
        <p:nvSpPr>
          <p:cNvPr id="28" name="TextBox 27">
            <a:extLst>
              <a:ext uri="{FF2B5EF4-FFF2-40B4-BE49-F238E27FC236}">
                <a16:creationId xmlns:a16="http://schemas.microsoft.com/office/drawing/2014/main" id="{499B0894-CB1E-4BCE-9B0E-CDEE0C418E1B}"/>
              </a:ext>
            </a:extLst>
          </p:cNvPr>
          <p:cNvSpPr txBox="1"/>
          <p:nvPr/>
        </p:nvSpPr>
        <p:spPr>
          <a:xfrm>
            <a:off x="1905000" y="5319067"/>
            <a:ext cx="1306997" cy="369332"/>
          </a:xfrm>
          <a:prstGeom prst="rect">
            <a:avLst/>
          </a:prstGeom>
          <a:noFill/>
        </p:spPr>
        <p:txBody>
          <a:bodyPr wrap="square" rtlCol="0">
            <a:spAutoFit/>
          </a:bodyPr>
          <a:lstStyle/>
          <a:p>
            <a:r>
              <a:rPr lang="en-US" dirty="0"/>
              <a:t>25,20,15</a:t>
            </a:r>
          </a:p>
        </p:txBody>
      </p:sp>
    </p:spTree>
    <p:extLst>
      <p:ext uri="{BB962C8B-B14F-4D97-AF65-F5344CB8AC3E}">
        <p14:creationId xmlns:p14="http://schemas.microsoft.com/office/powerpoint/2010/main" val="4259051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3C3C79DF-1AC1-448B-B220-7F8835998F7D}"/>
              </a:ext>
            </a:extLst>
          </p:cNvPr>
          <p:cNvGraphicFramePr>
            <a:graphicFrameLocks noGrp="1"/>
          </p:cNvGraphicFramePr>
          <p:nvPr>
            <p:extLst>
              <p:ext uri="{D42A27DB-BD31-4B8C-83A1-F6EECF244321}">
                <p14:modId xmlns:p14="http://schemas.microsoft.com/office/powerpoint/2010/main" val="2204628809"/>
              </p:ext>
            </p:extLst>
          </p:nvPr>
        </p:nvGraphicFramePr>
        <p:xfrm>
          <a:off x="1600200" y="838200"/>
          <a:ext cx="3124200" cy="13716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1074456089"/>
                    </a:ext>
                  </a:extLst>
                </a:gridCol>
                <a:gridCol w="1041400">
                  <a:extLst>
                    <a:ext uri="{9D8B030D-6E8A-4147-A177-3AD203B41FA5}">
                      <a16:colId xmlns:a16="http://schemas.microsoft.com/office/drawing/2014/main" val="33664869"/>
                    </a:ext>
                  </a:extLst>
                </a:gridCol>
                <a:gridCol w="1041400">
                  <a:extLst>
                    <a:ext uri="{9D8B030D-6E8A-4147-A177-3AD203B41FA5}">
                      <a16:colId xmlns:a16="http://schemas.microsoft.com/office/drawing/2014/main" val="1699752589"/>
                    </a:ext>
                  </a:extLst>
                </a:gridCol>
              </a:tblGrid>
              <a:tr h="390525">
                <a:tc>
                  <a:txBody>
                    <a:bodyPr/>
                    <a:lstStyle/>
                    <a:p>
                      <a:r>
                        <a:rPr lang="en-US" sz="240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dirty="0">
                          <a:solidFill>
                            <a:srgbClr val="FF0000"/>
                          </a:solidFill>
                        </a:rPr>
                        <a:t>20 </a:t>
                      </a:r>
                      <a:r>
                        <a:rPr lang="en-US" sz="2400" dirty="0">
                          <a:solidFill>
                            <a:schemeClr val="accent1"/>
                          </a:solidFill>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dirty="0">
                          <a:solidFill>
                            <a:srgbClr val="FF0000"/>
                          </a:solidFill>
                        </a:rPr>
                        <a:t>15 </a:t>
                      </a:r>
                      <a:r>
                        <a:rPr lang="en-US" sz="2400" dirty="0">
                          <a:solidFill>
                            <a:schemeClr val="accent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277794836"/>
                  </a:ext>
                </a:extLst>
              </a:tr>
              <a:tr h="390525">
                <a:tc>
                  <a:txBody>
                    <a:bodyPr/>
                    <a:lstStyle/>
                    <a:p>
                      <a:r>
                        <a:rPr lang="en-US" sz="2400" b="1"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20 </a:t>
                      </a:r>
                      <a:endParaRPr lang="en-US" sz="2400" b="1"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15 </a:t>
                      </a:r>
                      <a:r>
                        <a:rPr lang="en-US" sz="2400" b="1" dirty="0">
                          <a:solidFill>
                            <a:schemeClr val="accent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616636652"/>
                  </a:ext>
                </a:extLst>
              </a:tr>
              <a:tr h="390525">
                <a:tc>
                  <a:txBody>
                    <a:bodyPr/>
                    <a:lstStyle/>
                    <a:p>
                      <a:r>
                        <a:rPr lang="en-US" sz="2400" b="1"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20 </a:t>
                      </a:r>
                      <a:endParaRPr lang="en-US" sz="2400" b="1"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25</a:t>
                      </a:r>
                      <a:endParaRPr lang="en-US" sz="2400" b="1"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001314813"/>
                  </a:ext>
                </a:extLst>
              </a:tr>
            </a:tbl>
          </a:graphicData>
        </a:graphic>
      </p:graphicFrame>
      <p:sp>
        <p:nvSpPr>
          <p:cNvPr id="5" name="Arrow: Right 4">
            <a:extLst>
              <a:ext uri="{FF2B5EF4-FFF2-40B4-BE49-F238E27FC236}">
                <a16:creationId xmlns:a16="http://schemas.microsoft.com/office/drawing/2014/main" id="{25577D25-6F31-4716-A7F5-EE09B0F52B4D}"/>
              </a:ext>
            </a:extLst>
          </p:cNvPr>
          <p:cNvSpPr/>
          <p:nvPr/>
        </p:nvSpPr>
        <p:spPr>
          <a:xfrm>
            <a:off x="1371600" y="990600"/>
            <a:ext cx="228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ED44A87-C6E5-4FAE-BF56-6C5913C5909D}"/>
              </a:ext>
            </a:extLst>
          </p:cNvPr>
          <p:cNvSpPr txBox="1"/>
          <p:nvPr/>
        </p:nvSpPr>
        <p:spPr>
          <a:xfrm>
            <a:off x="5334000" y="990600"/>
            <a:ext cx="3410934" cy="1938992"/>
          </a:xfrm>
          <a:prstGeom prst="rect">
            <a:avLst/>
          </a:prstGeom>
          <a:noFill/>
        </p:spPr>
        <p:txBody>
          <a:bodyPr wrap="none" rtlCol="0">
            <a:spAutoFit/>
          </a:bodyPr>
          <a:lstStyle/>
          <a:p>
            <a:r>
              <a:rPr lang="en-US" sz="2400" b="1" dirty="0">
                <a:solidFill>
                  <a:srgbClr val="FF0000"/>
                </a:solidFill>
              </a:rPr>
              <a:t>P(20)&gt;25=not true move </a:t>
            </a:r>
          </a:p>
          <a:p>
            <a:r>
              <a:rPr lang="en-US" sz="2400" b="1" dirty="0">
                <a:solidFill>
                  <a:srgbClr val="FF0000"/>
                </a:solidFill>
              </a:rPr>
              <a:t>15&gt;25=not true move</a:t>
            </a:r>
          </a:p>
          <a:p>
            <a:r>
              <a:rPr lang="en-US" sz="2400" b="1" dirty="0">
                <a:solidFill>
                  <a:srgbClr val="FF0000"/>
                </a:solidFill>
              </a:rPr>
              <a:t>Q&lt;25=true</a:t>
            </a:r>
          </a:p>
          <a:p>
            <a:r>
              <a:rPr lang="en-US" sz="2400" b="1" dirty="0">
                <a:solidFill>
                  <a:srgbClr val="FF0000"/>
                </a:solidFill>
              </a:rPr>
              <a:t>P and Q Crossed so swap </a:t>
            </a:r>
          </a:p>
          <a:p>
            <a:r>
              <a:rPr lang="en-US" sz="2400" b="1" dirty="0">
                <a:solidFill>
                  <a:srgbClr val="FF0000"/>
                </a:solidFill>
              </a:rPr>
              <a:t>with pivot value </a:t>
            </a:r>
          </a:p>
        </p:txBody>
      </p:sp>
      <p:sp>
        <p:nvSpPr>
          <p:cNvPr id="9" name="TextBox 8">
            <a:extLst>
              <a:ext uri="{FF2B5EF4-FFF2-40B4-BE49-F238E27FC236}">
                <a16:creationId xmlns:a16="http://schemas.microsoft.com/office/drawing/2014/main" id="{46EE7924-846C-45DD-A8A2-C92256726131}"/>
              </a:ext>
            </a:extLst>
          </p:cNvPr>
          <p:cNvSpPr txBox="1"/>
          <p:nvPr/>
        </p:nvSpPr>
        <p:spPr>
          <a:xfrm>
            <a:off x="4778914" y="1293167"/>
            <a:ext cx="348172" cy="461665"/>
          </a:xfrm>
          <a:prstGeom prst="rect">
            <a:avLst/>
          </a:prstGeom>
          <a:noFill/>
        </p:spPr>
        <p:txBody>
          <a:bodyPr wrap="none" rtlCol="0">
            <a:spAutoFit/>
          </a:bodyPr>
          <a:lstStyle/>
          <a:p>
            <a:r>
              <a:rPr lang="en-US" sz="2400" b="1" dirty="0">
                <a:solidFill>
                  <a:schemeClr val="tx2"/>
                </a:solidFill>
              </a:rPr>
              <a:t>P</a:t>
            </a:r>
          </a:p>
        </p:txBody>
      </p:sp>
      <p:sp>
        <p:nvSpPr>
          <p:cNvPr id="10" name="Left Brace 9">
            <a:extLst>
              <a:ext uri="{FF2B5EF4-FFF2-40B4-BE49-F238E27FC236}">
                <a16:creationId xmlns:a16="http://schemas.microsoft.com/office/drawing/2014/main" id="{68D6724B-B307-487B-8EA2-600A4BEA0A99}"/>
              </a:ext>
            </a:extLst>
          </p:cNvPr>
          <p:cNvSpPr/>
          <p:nvPr/>
        </p:nvSpPr>
        <p:spPr>
          <a:xfrm>
            <a:off x="838200" y="838200"/>
            <a:ext cx="555086" cy="1295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1" name="Table 11">
            <a:extLst>
              <a:ext uri="{FF2B5EF4-FFF2-40B4-BE49-F238E27FC236}">
                <a16:creationId xmlns:a16="http://schemas.microsoft.com/office/drawing/2014/main" id="{880148AB-CFDA-463A-9B57-01E8BDF3E74D}"/>
              </a:ext>
            </a:extLst>
          </p:cNvPr>
          <p:cNvGraphicFramePr>
            <a:graphicFrameLocks noGrp="1"/>
          </p:cNvGraphicFramePr>
          <p:nvPr>
            <p:extLst>
              <p:ext uri="{D42A27DB-BD31-4B8C-83A1-F6EECF244321}">
                <p14:modId xmlns:p14="http://schemas.microsoft.com/office/powerpoint/2010/main" val="2089285236"/>
              </p:ext>
            </p:extLst>
          </p:nvPr>
        </p:nvGraphicFramePr>
        <p:xfrm>
          <a:off x="1371600" y="2953048"/>
          <a:ext cx="3755488" cy="2072640"/>
        </p:xfrm>
        <a:graphic>
          <a:graphicData uri="http://schemas.openxmlformats.org/drawingml/2006/table">
            <a:tbl>
              <a:tblPr firstRow="1" bandRow="1">
                <a:tableStyleId>{5C22544A-7EE6-4342-B048-85BDC9FD1C3A}</a:tableStyleId>
              </a:tblPr>
              <a:tblGrid>
                <a:gridCol w="938872">
                  <a:extLst>
                    <a:ext uri="{9D8B030D-6E8A-4147-A177-3AD203B41FA5}">
                      <a16:colId xmlns:a16="http://schemas.microsoft.com/office/drawing/2014/main" val="1199088925"/>
                    </a:ext>
                  </a:extLst>
                </a:gridCol>
                <a:gridCol w="938872">
                  <a:extLst>
                    <a:ext uri="{9D8B030D-6E8A-4147-A177-3AD203B41FA5}">
                      <a16:colId xmlns:a16="http://schemas.microsoft.com/office/drawing/2014/main" val="2855154733"/>
                    </a:ext>
                  </a:extLst>
                </a:gridCol>
                <a:gridCol w="938872">
                  <a:extLst>
                    <a:ext uri="{9D8B030D-6E8A-4147-A177-3AD203B41FA5}">
                      <a16:colId xmlns:a16="http://schemas.microsoft.com/office/drawing/2014/main" val="1002300067"/>
                    </a:ext>
                  </a:extLst>
                </a:gridCol>
                <a:gridCol w="938872">
                  <a:extLst>
                    <a:ext uri="{9D8B030D-6E8A-4147-A177-3AD203B41FA5}">
                      <a16:colId xmlns:a16="http://schemas.microsoft.com/office/drawing/2014/main" val="1258836352"/>
                    </a:ext>
                  </a:extLst>
                </a:gridCol>
              </a:tblGrid>
              <a:tr h="484748">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 </a:t>
                      </a:r>
                      <a:r>
                        <a:rPr lang="en-US" sz="2800" dirty="0">
                          <a:solidFill>
                            <a:schemeClr val="accent1"/>
                          </a:solidFill>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 </a:t>
                      </a:r>
                      <a:r>
                        <a:rPr lang="en-US" sz="2800" dirty="0">
                          <a:solidFill>
                            <a:schemeClr val="accent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811060121"/>
                  </a:ext>
                </a:extLst>
              </a:tr>
              <a:tr h="484748">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 </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 </a:t>
                      </a:r>
                      <a:r>
                        <a:rPr lang="en-US" sz="2800" dirty="0">
                          <a:solidFill>
                            <a:schemeClr val="accent1"/>
                          </a:solidFill>
                        </a:rPr>
                        <a:t>P</a:t>
                      </a:r>
                      <a:endParaRPr lang="en-US" sz="28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 </a:t>
                      </a:r>
                      <a:r>
                        <a:rPr lang="en-US" sz="2800" dirty="0">
                          <a:solidFill>
                            <a:schemeClr val="accent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381463777"/>
                  </a:ext>
                </a:extLst>
              </a:tr>
              <a:tr h="484748">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 </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 </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118799327"/>
                  </a:ext>
                </a:extLst>
              </a:tr>
              <a:tr h="484748">
                <a:tc>
                  <a:txBody>
                    <a:bodyPr/>
                    <a:lstStyle/>
                    <a:p>
                      <a:r>
                        <a:rPr lang="en-US" sz="280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50 </a:t>
                      </a:r>
                      <a:r>
                        <a:rPr lang="en-US" sz="2800" dirty="0">
                          <a:solidFill>
                            <a:schemeClr val="accent1"/>
                          </a:solidFill>
                        </a:rPr>
                        <a:t>P</a:t>
                      </a:r>
                      <a:r>
                        <a:rPr lang="en-US" sz="2800" dirty="0">
                          <a:solidFill>
                            <a:srgbClr val="FF0000"/>
                          </a:solidFill>
                        </a:rPr>
                        <a:t> </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45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800" dirty="0">
                          <a:solidFill>
                            <a:srgbClr val="FF0000"/>
                          </a:solidFill>
                        </a:rPr>
                        <a:t>90 </a:t>
                      </a:r>
                      <a:r>
                        <a:rPr lang="en-US" sz="2800" dirty="0">
                          <a:solidFill>
                            <a:schemeClr val="accent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177593159"/>
                  </a:ext>
                </a:extLst>
              </a:tr>
            </a:tbl>
          </a:graphicData>
        </a:graphic>
      </p:graphicFrame>
      <p:sp>
        <p:nvSpPr>
          <p:cNvPr id="12" name="Arrow: Right 11">
            <a:extLst>
              <a:ext uri="{FF2B5EF4-FFF2-40B4-BE49-F238E27FC236}">
                <a16:creationId xmlns:a16="http://schemas.microsoft.com/office/drawing/2014/main" id="{335475E4-15D0-4020-9841-A4694A833268}"/>
              </a:ext>
            </a:extLst>
          </p:cNvPr>
          <p:cNvSpPr/>
          <p:nvPr/>
        </p:nvSpPr>
        <p:spPr>
          <a:xfrm>
            <a:off x="1066800" y="31242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9B7299B-5C54-4DAB-968B-80B93E1425BA}"/>
              </a:ext>
            </a:extLst>
          </p:cNvPr>
          <p:cNvSpPr txBox="1"/>
          <p:nvPr/>
        </p:nvSpPr>
        <p:spPr>
          <a:xfrm>
            <a:off x="5486400" y="3429000"/>
            <a:ext cx="3364447" cy="1938992"/>
          </a:xfrm>
          <a:prstGeom prst="rect">
            <a:avLst/>
          </a:prstGeom>
          <a:noFill/>
        </p:spPr>
        <p:txBody>
          <a:bodyPr wrap="none" rtlCol="0">
            <a:spAutoFit/>
          </a:bodyPr>
          <a:lstStyle/>
          <a:p>
            <a:r>
              <a:rPr lang="en-US" sz="2400" b="1" dirty="0">
                <a:solidFill>
                  <a:schemeClr val="accent1"/>
                </a:solidFill>
              </a:rPr>
              <a:t>P(50)&gt;80= not true move</a:t>
            </a:r>
          </a:p>
          <a:p>
            <a:r>
              <a:rPr lang="en-US" sz="2400" b="1" dirty="0">
                <a:solidFill>
                  <a:schemeClr val="accent1"/>
                </a:solidFill>
              </a:rPr>
              <a:t>90&gt;80=true , stop P</a:t>
            </a:r>
          </a:p>
          <a:p>
            <a:r>
              <a:rPr lang="en-US" sz="2400" b="1" dirty="0">
                <a:solidFill>
                  <a:schemeClr val="accent1"/>
                </a:solidFill>
              </a:rPr>
              <a:t>Q(45)&lt;80=true but not </a:t>
            </a:r>
          </a:p>
          <a:p>
            <a:r>
              <a:rPr lang="en-US" sz="2400" b="1" dirty="0">
                <a:solidFill>
                  <a:schemeClr val="accent1"/>
                </a:solidFill>
              </a:rPr>
              <a:t>Cross so, swap P with Q</a:t>
            </a:r>
          </a:p>
          <a:p>
            <a:endParaRPr lang="en-US" sz="2400" b="1" dirty="0">
              <a:solidFill>
                <a:schemeClr val="accent1"/>
              </a:solidFill>
            </a:endParaRPr>
          </a:p>
        </p:txBody>
      </p:sp>
      <p:sp>
        <p:nvSpPr>
          <p:cNvPr id="14" name="Left Brace 13">
            <a:extLst>
              <a:ext uri="{FF2B5EF4-FFF2-40B4-BE49-F238E27FC236}">
                <a16:creationId xmlns:a16="http://schemas.microsoft.com/office/drawing/2014/main" id="{71EE9748-04EE-4918-9FA0-D214DE4ACA95}"/>
              </a:ext>
            </a:extLst>
          </p:cNvPr>
          <p:cNvSpPr/>
          <p:nvPr/>
        </p:nvSpPr>
        <p:spPr>
          <a:xfrm>
            <a:off x="557434" y="2953048"/>
            <a:ext cx="661766" cy="1295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row: Right 14">
            <a:extLst>
              <a:ext uri="{FF2B5EF4-FFF2-40B4-BE49-F238E27FC236}">
                <a16:creationId xmlns:a16="http://schemas.microsoft.com/office/drawing/2014/main" id="{BFED10CB-331B-48AC-9DB2-DAA013F56D15}"/>
              </a:ext>
            </a:extLst>
          </p:cNvPr>
          <p:cNvSpPr/>
          <p:nvPr/>
        </p:nvSpPr>
        <p:spPr>
          <a:xfrm>
            <a:off x="1066800" y="4627216"/>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le 17">
            <a:extLst>
              <a:ext uri="{FF2B5EF4-FFF2-40B4-BE49-F238E27FC236}">
                <a16:creationId xmlns:a16="http://schemas.microsoft.com/office/drawing/2014/main" id="{1F22E8FD-98C6-4B6D-A8BB-375AF2B4E66B}"/>
              </a:ext>
            </a:extLst>
          </p:cNvPr>
          <p:cNvGraphicFramePr>
            <a:graphicFrameLocks noGrp="1"/>
          </p:cNvGraphicFramePr>
          <p:nvPr>
            <p:extLst>
              <p:ext uri="{D42A27DB-BD31-4B8C-83A1-F6EECF244321}">
                <p14:modId xmlns:p14="http://schemas.microsoft.com/office/powerpoint/2010/main" val="4220042360"/>
              </p:ext>
            </p:extLst>
          </p:nvPr>
        </p:nvGraphicFramePr>
        <p:xfrm>
          <a:off x="1371600" y="5320776"/>
          <a:ext cx="3755488" cy="1346200"/>
        </p:xfrm>
        <a:graphic>
          <a:graphicData uri="http://schemas.openxmlformats.org/drawingml/2006/table">
            <a:tbl>
              <a:tblPr firstRow="1" bandRow="1">
                <a:tableStyleId>{5C22544A-7EE6-4342-B048-85BDC9FD1C3A}</a:tableStyleId>
              </a:tblPr>
              <a:tblGrid>
                <a:gridCol w="938872">
                  <a:extLst>
                    <a:ext uri="{9D8B030D-6E8A-4147-A177-3AD203B41FA5}">
                      <a16:colId xmlns:a16="http://schemas.microsoft.com/office/drawing/2014/main" val="1729894036"/>
                    </a:ext>
                  </a:extLst>
                </a:gridCol>
                <a:gridCol w="938872">
                  <a:extLst>
                    <a:ext uri="{9D8B030D-6E8A-4147-A177-3AD203B41FA5}">
                      <a16:colId xmlns:a16="http://schemas.microsoft.com/office/drawing/2014/main" val="1315472353"/>
                    </a:ext>
                  </a:extLst>
                </a:gridCol>
                <a:gridCol w="938872">
                  <a:extLst>
                    <a:ext uri="{9D8B030D-6E8A-4147-A177-3AD203B41FA5}">
                      <a16:colId xmlns:a16="http://schemas.microsoft.com/office/drawing/2014/main" val="393317622"/>
                    </a:ext>
                  </a:extLst>
                </a:gridCol>
                <a:gridCol w="938872">
                  <a:extLst>
                    <a:ext uri="{9D8B030D-6E8A-4147-A177-3AD203B41FA5}">
                      <a16:colId xmlns:a16="http://schemas.microsoft.com/office/drawing/2014/main" val="2819653368"/>
                    </a:ext>
                  </a:extLst>
                </a:gridCol>
              </a:tblGrid>
              <a:tr h="370840">
                <a:tc>
                  <a:txBody>
                    <a:bodyPr/>
                    <a:lstStyle/>
                    <a:p>
                      <a:r>
                        <a:rPr lang="en-US" sz="2800" b="1"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45</a:t>
                      </a:r>
                      <a:r>
                        <a:rPr lang="en-US" sz="2400" b="1" dirty="0">
                          <a:solidFill>
                            <a:schemeClr val="accent1"/>
                          </a:solidFill>
                        </a:rPr>
                        <a:t> 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90 </a:t>
                      </a:r>
                      <a:r>
                        <a:rPr lang="en-US" sz="2400" b="1" dirty="0">
                          <a:solidFill>
                            <a:schemeClr val="accent1"/>
                          </a:solidFill>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252345133"/>
                  </a:ext>
                </a:extLst>
              </a:tr>
              <a:tr h="370840">
                <a:tc>
                  <a:txBody>
                    <a:bodyPr/>
                    <a:lstStyle/>
                    <a:p>
                      <a:r>
                        <a:rPr lang="en-US" sz="2400" b="1" dirty="0">
                          <a:solidFill>
                            <a:srgbClr val="FF0000"/>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2400" b="1" dirty="0">
                          <a:solidFill>
                            <a:srgbClr val="FF000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81283743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29317921"/>
                  </a:ext>
                </a:extLst>
              </a:tr>
            </a:tbl>
          </a:graphicData>
        </a:graphic>
      </p:graphicFrame>
      <p:sp>
        <p:nvSpPr>
          <p:cNvPr id="18" name="TextBox 17">
            <a:extLst>
              <a:ext uri="{FF2B5EF4-FFF2-40B4-BE49-F238E27FC236}">
                <a16:creationId xmlns:a16="http://schemas.microsoft.com/office/drawing/2014/main" id="{2FB7ED01-F45B-48BA-826A-9CCB36623873}"/>
              </a:ext>
            </a:extLst>
          </p:cNvPr>
          <p:cNvSpPr txBox="1"/>
          <p:nvPr/>
        </p:nvSpPr>
        <p:spPr>
          <a:xfrm>
            <a:off x="5486400" y="5562600"/>
            <a:ext cx="2851102" cy="461665"/>
          </a:xfrm>
          <a:prstGeom prst="rect">
            <a:avLst/>
          </a:prstGeom>
          <a:noFill/>
        </p:spPr>
        <p:txBody>
          <a:bodyPr wrap="none" rtlCol="0">
            <a:spAutoFit/>
          </a:bodyPr>
          <a:lstStyle/>
          <a:p>
            <a:r>
              <a:rPr lang="en-US" sz="2400" dirty="0">
                <a:solidFill>
                  <a:schemeClr val="accent1"/>
                </a:solidFill>
              </a:rPr>
              <a:t>Here Q and P crossed</a:t>
            </a:r>
          </a:p>
        </p:txBody>
      </p:sp>
    </p:spTree>
    <p:extLst>
      <p:ext uri="{BB962C8B-B14F-4D97-AF65-F5344CB8AC3E}">
        <p14:creationId xmlns:p14="http://schemas.microsoft.com/office/powerpoint/2010/main" val="2619986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3933825"/>
            <a:ext cx="7154862" cy="1476375"/>
          </a:xfrm>
        </p:spPr>
        <p:txBody>
          <a:bodyPr rtlCol="0">
            <a:noAutofit/>
          </a:bodyPr>
          <a:lstStyle/>
          <a:p>
            <a:pPr eaLnBrk="1" fontAlgn="auto" hangingPunct="1">
              <a:spcAft>
                <a:spcPts val="0"/>
              </a:spcAft>
              <a:defRPr/>
            </a:pPr>
            <a:r>
              <a:rPr lang="en-US" sz="3600" dirty="0">
                <a:solidFill>
                  <a:srgbClr val="C00000"/>
                </a:solidFill>
              </a:rPr>
              <a:t> </a:t>
            </a:r>
            <a:r>
              <a:rPr lang="en-US" sz="3200" b="1" dirty="0">
                <a:solidFill>
                  <a:srgbClr val="C00000"/>
                </a:solidFill>
              </a:rPr>
              <a:t>Any query </a:t>
            </a:r>
            <a:br>
              <a:rPr lang="en-US" sz="3600" dirty="0">
                <a:solidFill>
                  <a:srgbClr val="C00000"/>
                </a:solidFill>
              </a:rPr>
            </a:br>
            <a:endParaRPr lang="en-IN" sz="1400" dirty="0">
              <a:solidFill>
                <a:schemeClr val="tx1">
                  <a:lumMod val="95000"/>
                  <a:lumOff val="5000"/>
                </a:schemeClr>
              </a:solidFill>
            </a:endParaRPr>
          </a:p>
        </p:txBody>
      </p:sp>
      <p:cxnSp>
        <p:nvCxnSpPr>
          <p:cNvPr id="4" name="Straight Connector 3"/>
          <p:cNvCxnSpPr/>
          <p:nvPr/>
        </p:nvCxnSpPr>
        <p:spPr>
          <a:xfrm>
            <a:off x="755650" y="40767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7892" name="Object 4"/>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789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5650" y="636588"/>
            <a:ext cx="1808163" cy="3297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itle 1"/>
          <p:cNvSpPr txBox="1">
            <a:spLocks/>
          </p:cNvSpPr>
          <p:nvPr/>
        </p:nvSpPr>
        <p:spPr>
          <a:xfrm>
            <a:off x="1952625" y="5957888"/>
            <a:ext cx="7156450" cy="11430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auto">
              <a:spcAft>
                <a:spcPts val="0"/>
              </a:spcAft>
              <a:defRPr/>
            </a:pPr>
            <a:endParaRPr lang="en-IN" sz="1400" dirty="0">
              <a:solidFill>
                <a:schemeClr val="tx1">
                  <a:lumMod val="65000"/>
                  <a:lumOff val="35000"/>
                </a:schemeClr>
              </a:solidFill>
            </a:endParaRPr>
          </a:p>
        </p:txBody>
      </p:sp>
    </p:spTree>
    <p:extLst>
      <p:ext uri="{BB962C8B-B14F-4D97-AF65-F5344CB8AC3E}">
        <p14:creationId xmlns:p14="http://schemas.microsoft.com/office/powerpoint/2010/main" val="2507906536"/>
      </p:ext>
    </p:extLst>
  </p:cSld>
  <p:clrMapOvr>
    <a:masterClrMapping/>
  </p:clrMapOvr>
</p:sld>
</file>

<file path=ppt/theme/theme1.xml><?xml version="1.0" encoding="utf-8"?>
<a:theme xmlns:a="http://schemas.openxmlformats.org/drawingml/2006/main" name="Lpu theme final with copyright(S)">
  <a:themeElements>
    <a:clrScheme name="Custom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Lpu theme final with copyright(S)</Template>
  <TotalTime>5482</TotalTime>
  <Words>689</Words>
  <Application>Microsoft Office PowerPoint</Application>
  <PresentationFormat>On-screen Show (4:3)</PresentationFormat>
  <Paragraphs>237</Paragraphs>
  <Slides>12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12</vt:i4>
      </vt:variant>
    </vt:vector>
  </HeadingPairs>
  <TitlesOfParts>
    <vt:vector size="17" baseType="lpstr">
      <vt:lpstr>Arial</vt:lpstr>
      <vt:lpstr>Arial Rounded MT Bold</vt:lpstr>
      <vt:lpstr>Calibri</vt:lpstr>
      <vt:lpstr>Courier New</vt:lpstr>
      <vt:lpstr>Lpu theme final with copyright(S)</vt:lpstr>
      <vt:lpstr>CAP770 ADVANCED DATA STRUCTURES</vt:lpstr>
      <vt:lpstr>  quick sort</vt:lpstr>
      <vt:lpstr>divide and conquer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Any query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dc:creator>
  <cp:lastModifiedBy>kumar</cp:lastModifiedBy>
  <cp:revision>223</cp:revision>
  <dcterms:created xsi:type="dcterms:W3CDTF">2014-05-25T11:13:57Z</dcterms:created>
  <dcterms:modified xsi:type="dcterms:W3CDTF">2021-02-28T21:12:59Z</dcterms:modified>
</cp:coreProperties>
</file>