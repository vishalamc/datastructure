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2" r:id="rId1"/>
  </p:sldMasterIdLst>
  <p:notesMasterIdLst>
    <p:notesMasterId r:id="rId21"/>
  </p:notesMasterIdLst>
  <p:handoutMasterIdLst>
    <p:handoutMasterId r:id="rId22"/>
  </p:handoutMasterIdLst>
  <p:sldIdLst>
    <p:sldId id="269" r:id="rId2"/>
    <p:sldId id="365" r:id="rId3"/>
    <p:sldId id="354" r:id="rId4"/>
    <p:sldId id="355" r:id="rId5"/>
    <p:sldId id="366" r:id="rId6"/>
    <p:sldId id="367" r:id="rId7"/>
    <p:sldId id="368" r:id="rId8"/>
    <p:sldId id="369" r:id="rId9"/>
    <p:sldId id="370" r:id="rId10"/>
    <p:sldId id="356" r:id="rId11"/>
    <p:sldId id="357" r:id="rId12"/>
    <p:sldId id="358" r:id="rId13"/>
    <p:sldId id="359" r:id="rId14"/>
    <p:sldId id="360" r:id="rId15"/>
    <p:sldId id="361" r:id="rId16"/>
    <p:sldId id="362" r:id="rId17"/>
    <p:sldId id="363" r:id="rId18"/>
    <p:sldId id="364" r:id="rId19"/>
    <p:sldId id="353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566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0" d="100"/>
          <a:sy n="60" d="100"/>
        </p:scale>
        <p:origin x="-2736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BF3176-BDCC-49EA-B30D-5437BB8C7604}" type="datetimeFigureOut">
              <a:rPr lang="en-US" smtClean="0"/>
              <a:pPr/>
              <a:t>4/18/2021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227CDD-B970-4E95-B4CD-CAD47DE6DC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1844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AB7907-3328-40C6-81DC-094447F4187C}" type="datetimeFigureOut">
              <a:rPr lang="en-US" smtClean="0"/>
              <a:pPr/>
              <a:t>4/18/2021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FFCBBA-87C4-482A-9ED2-FD5CC3AE6FA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297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sz="4800" dirty="0"/>
              <a:t>CAP770-Lec#0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3429000"/>
            <a:ext cx="7086600" cy="1752600"/>
          </a:xfrm>
        </p:spPr>
        <p:txBody>
          <a:bodyPr/>
          <a:lstStyle>
            <a:lvl1pPr marL="0" indent="0" algn="l">
              <a:buNone/>
              <a:defRPr>
                <a:solidFill>
                  <a:srgbClr val="C000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839322" y="3352800"/>
            <a:ext cx="7056784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839322" y="3352800"/>
            <a:ext cx="7056784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44" y="0"/>
            <a:ext cx="9124950" cy="94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44" y="0"/>
            <a:ext cx="9124950" cy="94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Subtitle 2"/>
          <p:cNvSpPr txBox="1">
            <a:spLocks/>
          </p:cNvSpPr>
          <p:nvPr/>
        </p:nvSpPr>
        <p:spPr>
          <a:xfrm>
            <a:off x="1375935" y="3886200"/>
            <a:ext cx="64008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rgbClr val="C00000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043608" y="3352800"/>
            <a:ext cx="7056784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44" y="0"/>
            <a:ext cx="9124950" cy="94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Subtitle 2"/>
          <p:cNvSpPr txBox="1">
            <a:spLocks/>
          </p:cNvSpPr>
          <p:nvPr userDrawn="1"/>
        </p:nvSpPr>
        <p:spPr>
          <a:xfrm>
            <a:off x="1375935" y="3886200"/>
            <a:ext cx="64008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rgbClr val="C00000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cxnSp>
        <p:nvCxnSpPr>
          <p:cNvPr id="16" name="Straight Connector 15"/>
          <p:cNvCxnSpPr/>
          <p:nvPr userDrawn="1"/>
        </p:nvCxnSpPr>
        <p:spPr>
          <a:xfrm>
            <a:off x="1043608" y="3352800"/>
            <a:ext cx="7056784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 userDrawn="1"/>
        </p:nvSpPr>
        <p:spPr>
          <a:xfrm>
            <a:off x="4556070" y="5562600"/>
            <a:ext cx="457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0" dirty="0">
                <a:solidFill>
                  <a:srgbClr val="002060"/>
                </a:solidFill>
                <a:latin typeface="Arial Rounded MT Bold" pitchFamily="34" charset="0"/>
              </a:rPr>
              <a:t>Created By: 		</a:t>
            </a:r>
          </a:p>
          <a:p>
            <a:pPr algn="r"/>
            <a:r>
              <a:rPr lang="en-US" sz="2000" b="0" dirty="0">
                <a:solidFill>
                  <a:srgbClr val="002060"/>
                </a:solidFill>
                <a:latin typeface="Arial Rounded MT Bold" pitchFamily="34" charset="0"/>
              </a:rPr>
              <a:t>Kumar Vishal</a:t>
            </a:r>
          </a:p>
          <a:p>
            <a:pPr algn="r"/>
            <a:r>
              <a:rPr lang="en-US" sz="2000" b="0" dirty="0">
                <a:solidFill>
                  <a:srgbClr val="002060"/>
                </a:solidFill>
                <a:latin typeface="Arial Rounded MT Bold" pitchFamily="34" charset="0"/>
              </a:rPr>
              <a:t>		(SCA),</a:t>
            </a:r>
            <a:r>
              <a:rPr lang="en-US" sz="2000" b="0" baseline="0" dirty="0">
                <a:solidFill>
                  <a:srgbClr val="002060"/>
                </a:solidFill>
                <a:latin typeface="Arial Rounded MT Bold" pitchFamily="34" charset="0"/>
              </a:rPr>
              <a:t> LPU</a:t>
            </a:r>
            <a:endParaRPr lang="en-US" sz="2000" b="0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44" y="0"/>
            <a:ext cx="9124950" cy="94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44" y="0"/>
            <a:ext cx="9124950" cy="94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44" y="0"/>
            <a:ext cx="9124950" cy="94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635818"/>
            <a:ext cx="1808162" cy="3297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1953250" y="5958408"/>
            <a:ext cx="7155254" cy="8995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endParaRPr lang="en-IN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755576" y="4077072"/>
            <a:ext cx="7056784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4114800"/>
            <a:ext cx="7155254" cy="1600200"/>
          </a:xfrm>
        </p:spPr>
        <p:txBody>
          <a:bodyPr anchor="t">
            <a:noAutofit/>
          </a:bodyPr>
          <a:lstStyle>
            <a:lvl1pPr algn="r">
              <a:defRPr>
                <a:solidFill>
                  <a:srgbClr val="C00000"/>
                </a:solidFill>
              </a:defRPr>
            </a:lvl1pPr>
          </a:lstStyle>
          <a:p>
            <a:pPr algn="r"/>
            <a:r>
              <a:rPr lang="en-US" sz="3600" dirty="0">
                <a:solidFill>
                  <a:srgbClr val="C00000"/>
                </a:solidFill>
              </a:rPr>
              <a:t>Next Class:</a:t>
            </a:r>
            <a:endParaRPr lang="en-IN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44" y="0"/>
            <a:ext cx="9124950" cy="94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44" y="0"/>
            <a:ext cx="9124950" cy="94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44" y="0"/>
            <a:ext cx="9124950" cy="94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2"/>
          </p:nvPr>
        </p:nvSpPr>
        <p:spPr>
          <a:xfrm>
            <a:off x="0" y="685800"/>
            <a:ext cx="6400800" cy="5486400"/>
          </a:xfrm>
          <a:solidFill>
            <a:srgbClr val="FFE593"/>
          </a:solidFill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defRPr>
            </a:lvl1pPr>
            <a:lvl2pPr marL="0" indent="0"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defRPr>
            </a:lvl2pPr>
            <a:lvl3pPr marL="0" indent="0"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defRPr>
            </a:lvl3pPr>
            <a:lvl4pPr marL="0" indent="0"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defRPr>
            </a:lvl4pPr>
            <a:lvl5pPr marL="0" indent="0"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553200" y="685800"/>
            <a:ext cx="2590800" cy="54864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accent1"/>
                </a:solidFill>
              </a:defRPr>
            </a:lvl1pPr>
            <a:lvl2pPr marL="0" indent="0">
              <a:spcBef>
                <a:spcPts val="0"/>
              </a:spcBef>
              <a:buNone/>
              <a:defRPr sz="2800"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buNone/>
              <a:defRPr sz="2800"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buNone/>
              <a:defRPr sz="2800"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buNone/>
              <a:defRPr sz="2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19" y="0"/>
            <a:ext cx="9124950" cy="94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19" y="0"/>
            <a:ext cx="9124950" cy="94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84" r:id="rId2"/>
    <p:sldLayoutId id="2147483785" r:id="rId3"/>
    <p:sldLayoutId id="2147483786" r:id="rId4"/>
    <p:sldLayoutId id="2147483787" r:id="rId5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806575"/>
            <a:ext cx="7772400" cy="1470025"/>
          </a:xfrm>
        </p:spPr>
        <p:txBody>
          <a:bodyPr>
            <a:normAutofit/>
          </a:bodyPr>
          <a:lstStyle/>
          <a:p>
            <a:r>
              <a:rPr lang="en-US" dirty="0"/>
              <a:t>CAP770</a:t>
            </a:r>
            <a:br>
              <a:rPr lang="en-US" dirty="0"/>
            </a:br>
            <a:r>
              <a:rPr lang="en-US" dirty="0"/>
              <a:t>ADVANCED DATA STRUCTURES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</a:endParaRPr>
          </a:p>
          <a:p>
            <a:pPr algn="ctr">
              <a:spcBef>
                <a:spcPts val="0"/>
              </a:spcBef>
              <a:defRPr/>
            </a:pP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4589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630C3-1100-48A7-A820-6D91C7C27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b="0" i="0" dirty="0">
                <a:solidFill>
                  <a:srgbClr val="610B38"/>
                </a:solidFill>
                <a:effectLst/>
                <a:latin typeface="erdana"/>
              </a:rPr>
              <a:t>Graph Representation</a:t>
            </a:r>
            <a:br>
              <a:rPr lang="en-US" b="0" i="0" dirty="0">
                <a:solidFill>
                  <a:srgbClr val="610B38"/>
                </a:solidFill>
                <a:effectLst/>
                <a:latin typeface="erdana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798BB-BEF0-496C-935B-70FB1E9FB0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041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0F596-E44D-444A-BE0F-EDC1CAF2B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connected components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5B091-88CF-41E3-88DE-23EFDB3DCF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800" b="0" i="0" dirty="0">
                <a:solidFill>
                  <a:srgbClr val="202124"/>
                </a:solidFill>
                <a:effectLst/>
              </a:rPr>
              <a:t>A </a:t>
            </a:r>
            <a:r>
              <a:rPr lang="en-US" sz="2800" b="1" i="0" dirty="0">
                <a:solidFill>
                  <a:srgbClr val="202124"/>
                </a:solidFill>
                <a:effectLst/>
              </a:rPr>
              <a:t>connected component</a:t>
            </a:r>
            <a:r>
              <a:rPr lang="en-US" sz="2800" b="0" i="0" dirty="0">
                <a:solidFill>
                  <a:srgbClr val="202124"/>
                </a:solidFill>
                <a:effectLst/>
              </a:rPr>
              <a:t> or simply </a:t>
            </a:r>
            <a:r>
              <a:rPr lang="en-US" sz="2800" b="1" i="0" dirty="0">
                <a:solidFill>
                  <a:srgbClr val="202124"/>
                </a:solidFill>
                <a:effectLst/>
              </a:rPr>
              <a:t>component</a:t>
            </a:r>
            <a:r>
              <a:rPr lang="en-US" sz="2800" b="0" i="0" dirty="0">
                <a:solidFill>
                  <a:srgbClr val="202124"/>
                </a:solidFill>
                <a:effectLst/>
              </a:rPr>
              <a:t> of an undirected </a:t>
            </a:r>
            <a:r>
              <a:rPr lang="en-US" sz="2800" b="1" i="0" dirty="0">
                <a:solidFill>
                  <a:srgbClr val="202124"/>
                </a:solidFill>
                <a:effectLst/>
              </a:rPr>
              <a:t>graph</a:t>
            </a:r>
            <a:r>
              <a:rPr lang="en-US" sz="2800" b="0" i="0" dirty="0">
                <a:solidFill>
                  <a:srgbClr val="202124"/>
                </a:solidFill>
                <a:effectLst/>
              </a:rPr>
              <a:t> is a subgraph in which each pair of nodes is </a:t>
            </a:r>
            <a:r>
              <a:rPr lang="en-US" sz="2800" b="1" i="0" dirty="0">
                <a:solidFill>
                  <a:srgbClr val="202124"/>
                </a:solidFill>
                <a:effectLst/>
              </a:rPr>
              <a:t>connected</a:t>
            </a:r>
            <a:r>
              <a:rPr lang="en-US" sz="2800" b="0" i="0" dirty="0">
                <a:solidFill>
                  <a:srgbClr val="202124"/>
                </a:solidFill>
                <a:effectLst/>
              </a:rPr>
              <a:t> with each other via a path. ... </a:t>
            </a:r>
          </a:p>
          <a:p>
            <a:pPr marL="0" indent="0" algn="just">
              <a:buNone/>
            </a:pPr>
            <a:r>
              <a:rPr lang="en-US" sz="2800" b="0" i="0" dirty="0">
                <a:solidFill>
                  <a:srgbClr val="202124"/>
                </a:solidFill>
                <a:effectLst/>
              </a:rPr>
              <a:t>A set of nodes forms a </a:t>
            </a:r>
            <a:r>
              <a:rPr lang="en-US" sz="2800" b="1" i="0" dirty="0">
                <a:solidFill>
                  <a:srgbClr val="202124"/>
                </a:solidFill>
                <a:effectLst/>
              </a:rPr>
              <a:t>connected component</a:t>
            </a:r>
            <a:r>
              <a:rPr lang="en-US" sz="2800" b="0" i="0" dirty="0">
                <a:solidFill>
                  <a:srgbClr val="202124"/>
                </a:solidFill>
                <a:effectLst/>
              </a:rPr>
              <a:t> in an undirected </a:t>
            </a:r>
            <a:r>
              <a:rPr lang="en-US" sz="2800" b="1" i="0" dirty="0">
                <a:solidFill>
                  <a:srgbClr val="202124"/>
                </a:solidFill>
                <a:effectLst/>
              </a:rPr>
              <a:t>graph</a:t>
            </a:r>
            <a:r>
              <a:rPr lang="en-US" sz="2800" b="0" i="0" dirty="0">
                <a:solidFill>
                  <a:srgbClr val="202124"/>
                </a:solidFill>
                <a:effectLst/>
              </a:rPr>
              <a:t> if any node from the set of nodes can reach any other node by traversing edges.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31773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CF4DB-EB5C-460F-9DB4-8A0AD5918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br>
              <a:rPr lang="en-US" b="0" i="0" dirty="0">
                <a:solidFill>
                  <a:srgbClr val="610B38"/>
                </a:solidFill>
                <a:effectLst/>
                <a:latin typeface="erdana"/>
              </a:rPr>
            </a:br>
            <a:r>
              <a:rPr lang="en-US" b="0" i="0" dirty="0">
                <a:solidFill>
                  <a:srgbClr val="610B38"/>
                </a:solidFill>
                <a:effectLst/>
                <a:latin typeface="erdana"/>
              </a:rPr>
              <a:t>Graph Representation</a:t>
            </a:r>
            <a:br>
              <a:rPr lang="en-US" b="0" i="0" dirty="0">
                <a:solidFill>
                  <a:srgbClr val="610B38"/>
                </a:solidFill>
                <a:effectLst/>
                <a:latin typeface="erdana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D6726-EAB9-4249-A80E-1653863FE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0000"/>
                </a:solidFill>
              </a:rPr>
              <a:t>A</a:t>
            </a:r>
            <a:r>
              <a:rPr lang="en-US" b="0" i="0" dirty="0">
                <a:solidFill>
                  <a:srgbClr val="000000"/>
                </a:solidFill>
                <a:effectLst/>
              </a:rPr>
              <a:t>djacency matrix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0" i="0" dirty="0">
                <a:solidFill>
                  <a:schemeClr val="tx1"/>
                </a:solidFill>
                <a:effectLst/>
              </a:rPr>
              <a:t>Linked Representation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6731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5604D-5F18-4164-A51E-8DB361115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br>
              <a:rPr lang="en-US" dirty="0">
                <a:solidFill>
                  <a:srgbClr val="000000"/>
                </a:solidFill>
              </a:rPr>
            </a:br>
            <a:r>
              <a:rPr lang="en-US" dirty="0">
                <a:solidFill>
                  <a:srgbClr val="000000"/>
                </a:solidFill>
              </a:rPr>
              <a:t>A</a:t>
            </a:r>
            <a:r>
              <a:rPr lang="en-US" b="0" i="0" dirty="0">
                <a:solidFill>
                  <a:srgbClr val="000000"/>
                </a:solidFill>
                <a:effectLst/>
              </a:rPr>
              <a:t>djacency matrix</a:t>
            </a:r>
            <a:br>
              <a:rPr lang="en-US" b="0" i="0" dirty="0">
                <a:solidFill>
                  <a:srgbClr val="000000"/>
                </a:solidFill>
                <a:effectLst/>
              </a:rPr>
            </a:br>
            <a:endParaRPr lang="en-US" dirty="0"/>
          </a:p>
        </p:txBody>
      </p:sp>
      <p:pic>
        <p:nvPicPr>
          <p:cNvPr id="2050" name="Picture 2" descr="Graph Representation">
            <a:extLst>
              <a:ext uri="{FF2B5EF4-FFF2-40B4-BE49-F238E27FC236}">
                <a16:creationId xmlns:a16="http://schemas.microsoft.com/office/drawing/2014/main" id="{81F9BE98-BFCC-4B0A-BDF3-08127EFC7E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057400"/>
            <a:ext cx="7808057" cy="35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0624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Graph Representation">
            <a:extLst>
              <a:ext uri="{FF2B5EF4-FFF2-40B4-BE49-F238E27FC236}">
                <a16:creationId xmlns:a16="http://schemas.microsoft.com/office/drawing/2014/main" id="{7331D3FB-D52D-4B3E-A7D8-DF5906760F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816893"/>
            <a:ext cx="8403905" cy="3224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4529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961DA3D-BCB0-4F93-9C1E-4CF95672C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br>
              <a:rPr lang="en-US" b="0" i="0" dirty="0">
                <a:solidFill>
                  <a:schemeClr val="tx1"/>
                </a:solidFill>
                <a:effectLst/>
              </a:rPr>
            </a:br>
            <a:r>
              <a:rPr lang="en-US" b="0" i="0" dirty="0">
                <a:solidFill>
                  <a:schemeClr val="tx1"/>
                </a:solidFill>
                <a:effectLst/>
              </a:rPr>
              <a:t>Linked Representation</a:t>
            </a:r>
            <a:br>
              <a:rPr lang="en-US" b="0" i="0" dirty="0">
                <a:solidFill>
                  <a:schemeClr val="tx1"/>
                </a:solidFill>
                <a:effectLst/>
              </a:rPr>
            </a:br>
            <a:endParaRPr lang="en-US" dirty="0"/>
          </a:p>
        </p:txBody>
      </p:sp>
      <p:pic>
        <p:nvPicPr>
          <p:cNvPr id="4098" name="Picture 2" descr="Graph Representation">
            <a:extLst>
              <a:ext uri="{FF2B5EF4-FFF2-40B4-BE49-F238E27FC236}">
                <a16:creationId xmlns:a16="http://schemas.microsoft.com/office/drawing/2014/main" id="{0350ACE4-4756-4213-A83E-F85B1EBAFB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931193"/>
            <a:ext cx="8326581" cy="2995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3621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Graph Representation">
            <a:extLst>
              <a:ext uri="{FF2B5EF4-FFF2-40B4-BE49-F238E27FC236}">
                <a16:creationId xmlns:a16="http://schemas.microsoft.com/office/drawing/2014/main" id="{D7CDF1FE-0182-446C-8695-3876E7A597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035" y="1943100"/>
            <a:ext cx="8049929" cy="297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7830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3D3F2-5386-44C3-B606-AF7951A80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80779-4765-494D-93B0-A6CFCB4E3D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977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BD085-8A5C-446D-83F5-6889C2A8E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Spanning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36E915-61E4-4A22-9DF2-BCF6DC901B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connected subgraph ‘S’ of graph G(V,E) is said to be spanning if: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‘S’ should contain all vertices of 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‘S’ should contain (V-1) edges.</a:t>
            </a:r>
          </a:p>
          <a:p>
            <a:pPr marL="0" indent="0">
              <a:buNone/>
            </a:pPr>
            <a:r>
              <a:rPr lang="en-US" dirty="0"/>
              <a:t>For example: </a:t>
            </a:r>
          </a:p>
          <a:p>
            <a:pPr marL="0" indent="0">
              <a:buNone/>
            </a:pPr>
            <a:r>
              <a:rPr lang="en-US" dirty="0"/>
              <a:t>Consider this :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9ED6993-E0AC-430D-87E1-657FFCE2DD33}"/>
              </a:ext>
            </a:extLst>
          </p:cNvPr>
          <p:cNvSpPr/>
          <p:nvPr/>
        </p:nvSpPr>
        <p:spPr>
          <a:xfrm>
            <a:off x="3429000" y="42672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EA7A1A7-A163-4CED-9D37-2738FF51F431}"/>
              </a:ext>
            </a:extLst>
          </p:cNvPr>
          <p:cNvSpPr/>
          <p:nvPr/>
        </p:nvSpPr>
        <p:spPr>
          <a:xfrm>
            <a:off x="5410200" y="42672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F26C28D-723C-4C9C-92B1-3BC2E8AFD4A3}"/>
              </a:ext>
            </a:extLst>
          </p:cNvPr>
          <p:cNvSpPr/>
          <p:nvPr/>
        </p:nvSpPr>
        <p:spPr>
          <a:xfrm>
            <a:off x="3429000" y="5509419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6B8E546-3542-4E75-A0DB-40087DEF7788}"/>
              </a:ext>
            </a:extLst>
          </p:cNvPr>
          <p:cNvSpPr/>
          <p:nvPr/>
        </p:nvSpPr>
        <p:spPr>
          <a:xfrm>
            <a:off x="5562600" y="5486400"/>
            <a:ext cx="685800" cy="7088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7559198-39C8-40E5-833C-EDE6FD8B6E7C}"/>
              </a:ext>
            </a:extLst>
          </p:cNvPr>
          <p:cNvCxnSpPr/>
          <p:nvPr/>
        </p:nvCxnSpPr>
        <p:spPr>
          <a:xfrm>
            <a:off x="4114800" y="4572000"/>
            <a:ext cx="1295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7408F69-A86D-4622-8EB8-5CFD5A167302}"/>
              </a:ext>
            </a:extLst>
          </p:cNvPr>
          <p:cNvCxnSpPr>
            <a:stCxn id="4" idx="4"/>
            <a:endCxn id="6" idx="0"/>
          </p:cNvCxnSpPr>
          <p:nvPr/>
        </p:nvCxnSpPr>
        <p:spPr>
          <a:xfrm>
            <a:off x="3771900" y="4953000"/>
            <a:ext cx="0" cy="5564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D39FBE5-A50D-4285-9EF3-D8C0D074C8EE}"/>
              </a:ext>
            </a:extLst>
          </p:cNvPr>
          <p:cNvCxnSpPr>
            <a:endCxn id="7" idx="2"/>
          </p:cNvCxnSpPr>
          <p:nvPr/>
        </p:nvCxnSpPr>
        <p:spPr>
          <a:xfrm>
            <a:off x="4114800" y="5791200"/>
            <a:ext cx="1447800" cy="496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A8D4B58-8022-46E8-B511-7C8599058EBE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5753100" y="4953000"/>
            <a:ext cx="1" cy="533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17378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C2DF1-DDBE-48E7-BCD2-A47849DC6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E6313-2433-4327-B97B-1A8D6D982F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Properties:</a:t>
            </a:r>
          </a:p>
          <a:p>
            <a:pPr marL="0" indent="0">
              <a:buNone/>
            </a:pPr>
            <a:r>
              <a:rPr lang="en-US" dirty="0"/>
              <a:t>    Tree means no cycle.</a:t>
            </a:r>
          </a:p>
          <a:p>
            <a:pPr marL="0" indent="0">
              <a:buNone/>
            </a:pPr>
            <a:r>
              <a:rPr lang="en-US" dirty="0"/>
              <a:t>     It should be connected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FD8662B-D461-4A0D-AFC3-6211E1F5E3BB}"/>
              </a:ext>
            </a:extLst>
          </p:cNvPr>
          <p:cNvSpPr/>
          <p:nvPr/>
        </p:nvSpPr>
        <p:spPr>
          <a:xfrm>
            <a:off x="838200" y="37338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0006FF4-65A6-4A8E-9BE0-EE88098AF521}"/>
              </a:ext>
            </a:extLst>
          </p:cNvPr>
          <p:cNvSpPr/>
          <p:nvPr/>
        </p:nvSpPr>
        <p:spPr>
          <a:xfrm>
            <a:off x="2819400" y="37338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C140CC1-2FFE-4B80-B2E1-8C66CD6ED275}"/>
              </a:ext>
            </a:extLst>
          </p:cNvPr>
          <p:cNvSpPr/>
          <p:nvPr/>
        </p:nvSpPr>
        <p:spPr>
          <a:xfrm>
            <a:off x="838200" y="4976019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94F2E3B-0449-4012-A795-EDBEB7CF9FAD}"/>
              </a:ext>
            </a:extLst>
          </p:cNvPr>
          <p:cNvSpPr/>
          <p:nvPr/>
        </p:nvSpPr>
        <p:spPr>
          <a:xfrm>
            <a:off x="2971800" y="4953000"/>
            <a:ext cx="685800" cy="7088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87218C-9B9C-4478-B084-58CE0F6E1FA4}"/>
              </a:ext>
            </a:extLst>
          </p:cNvPr>
          <p:cNvCxnSpPr/>
          <p:nvPr/>
        </p:nvCxnSpPr>
        <p:spPr>
          <a:xfrm>
            <a:off x="1524000" y="4038600"/>
            <a:ext cx="1295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80DF0F4-B781-4452-93DC-F47ADF36D80D}"/>
              </a:ext>
            </a:extLst>
          </p:cNvPr>
          <p:cNvCxnSpPr>
            <a:stCxn id="10" idx="4"/>
            <a:endCxn id="12" idx="0"/>
          </p:cNvCxnSpPr>
          <p:nvPr/>
        </p:nvCxnSpPr>
        <p:spPr>
          <a:xfrm>
            <a:off x="1181100" y="4419600"/>
            <a:ext cx="0" cy="5564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7D25CAA-01C6-425A-8EB5-41878B62D525}"/>
              </a:ext>
            </a:extLst>
          </p:cNvPr>
          <p:cNvCxnSpPr>
            <a:endCxn id="13" idx="2"/>
          </p:cNvCxnSpPr>
          <p:nvPr/>
        </p:nvCxnSpPr>
        <p:spPr>
          <a:xfrm>
            <a:off x="1524000" y="5257800"/>
            <a:ext cx="1447800" cy="496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0DD7FCF0-6B2D-4EA5-9898-5BA87454E3BD}"/>
              </a:ext>
            </a:extLst>
          </p:cNvPr>
          <p:cNvSpPr/>
          <p:nvPr/>
        </p:nvSpPr>
        <p:spPr>
          <a:xfrm>
            <a:off x="4031730" y="37338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6C8500E-E709-4CFA-BC8C-DB1E5B1A935E}"/>
              </a:ext>
            </a:extLst>
          </p:cNvPr>
          <p:cNvSpPr/>
          <p:nvPr/>
        </p:nvSpPr>
        <p:spPr>
          <a:xfrm>
            <a:off x="6012930" y="37338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0830E0D-F8D6-4A66-956F-97D008EB1D52}"/>
              </a:ext>
            </a:extLst>
          </p:cNvPr>
          <p:cNvSpPr/>
          <p:nvPr/>
        </p:nvSpPr>
        <p:spPr>
          <a:xfrm>
            <a:off x="4031730" y="4976019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38E0F45-785B-4513-9729-1C57F08B8661}"/>
              </a:ext>
            </a:extLst>
          </p:cNvPr>
          <p:cNvSpPr/>
          <p:nvPr/>
        </p:nvSpPr>
        <p:spPr>
          <a:xfrm>
            <a:off x="6165330" y="4953000"/>
            <a:ext cx="685800" cy="7088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6012322-034D-461E-BF42-111D0F25CD26}"/>
              </a:ext>
            </a:extLst>
          </p:cNvPr>
          <p:cNvCxnSpPr/>
          <p:nvPr/>
        </p:nvCxnSpPr>
        <p:spPr>
          <a:xfrm>
            <a:off x="4717530" y="4038600"/>
            <a:ext cx="1295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18DA7FC-6D4B-47ED-8D0F-0A8E238A86A8}"/>
              </a:ext>
            </a:extLst>
          </p:cNvPr>
          <p:cNvCxnSpPr>
            <a:stCxn id="27" idx="4"/>
            <a:endCxn id="29" idx="0"/>
          </p:cNvCxnSpPr>
          <p:nvPr/>
        </p:nvCxnSpPr>
        <p:spPr>
          <a:xfrm>
            <a:off x="4374630" y="4419600"/>
            <a:ext cx="0" cy="5564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6C82897-F9BB-4A48-989D-DF3D4AEFB792}"/>
              </a:ext>
            </a:extLst>
          </p:cNvPr>
          <p:cNvCxnSpPr>
            <a:cxnSpLocks/>
            <a:stCxn id="28" idx="4"/>
          </p:cNvCxnSpPr>
          <p:nvPr/>
        </p:nvCxnSpPr>
        <p:spPr>
          <a:xfrm>
            <a:off x="6355830" y="4419600"/>
            <a:ext cx="1" cy="533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3384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E88A6-360E-4460-9976-B0C9BB04C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453F473-8C74-429D-9F1E-647670D7A36E}"/>
              </a:ext>
            </a:extLst>
          </p:cNvPr>
          <p:cNvSpPr/>
          <p:nvPr/>
        </p:nvSpPr>
        <p:spPr>
          <a:xfrm>
            <a:off x="685800" y="20574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E056998-A68C-4901-900A-8A3ADC9087A3}"/>
              </a:ext>
            </a:extLst>
          </p:cNvPr>
          <p:cNvSpPr/>
          <p:nvPr/>
        </p:nvSpPr>
        <p:spPr>
          <a:xfrm>
            <a:off x="2667000" y="20574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4F144D9-A23A-44D0-A547-171EE341F0F8}"/>
              </a:ext>
            </a:extLst>
          </p:cNvPr>
          <p:cNvSpPr/>
          <p:nvPr/>
        </p:nvSpPr>
        <p:spPr>
          <a:xfrm>
            <a:off x="685800" y="3299619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A68F9B7-E4E0-4F65-B8D2-C5542942F0FC}"/>
              </a:ext>
            </a:extLst>
          </p:cNvPr>
          <p:cNvSpPr/>
          <p:nvPr/>
        </p:nvSpPr>
        <p:spPr>
          <a:xfrm>
            <a:off x="2819400" y="3276600"/>
            <a:ext cx="685800" cy="7088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9AC8813-B05A-4561-8676-4A7F0EA27B3E}"/>
              </a:ext>
            </a:extLst>
          </p:cNvPr>
          <p:cNvCxnSpPr/>
          <p:nvPr/>
        </p:nvCxnSpPr>
        <p:spPr>
          <a:xfrm>
            <a:off x="1371600" y="2362200"/>
            <a:ext cx="1295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D923BBF-37AF-41F9-9201-0C624DC8F454}"/>
              </a:ext>
            </a:extLst>
          </p:cNvPr>
          <p:cNvCxnSpPr>
            <a:endCxn id="7" idx="2"/>
          </p:cNvCxnSpPr>
          <p:nvPr/>
        </p:nvCxnSpPr>
        <p:spPr>
          <a:xfrm>
            <a:off x="1371600" y="3581400"/>
            <a:ext cx="1447800" cy="496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6D7D49A-466A-4CA4-BCF3-90F40B7B82DE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3009900" y="2743200"/>
            <a:ext cx="1" cy="533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CD91669F-B043-4126-88B4-885C38134345}"/>
              </a:ext>
            </a:extLst>
          </p:cNvPr>
          <p:cNvSpPr/>
          <p:nvPr/>
        </p:nvSpPr>
        <p:spPr>
          <a:xfrm>
            <a:off x="4267200" y="207917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638A839-7FD8-4856-B467-1A7E6AA515F8}"/>
              </a:ext>
            </a:extLst>
          </p:cNvPr>
          <p:cNvSpPr/>
          <p:nvPr/>
        </p:nvSpPr>
        <p:spPr>
          <a:xfrm>
            <a:off x="6248400" y="207917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0A85DFA-51A0-4466-BFD3-0E16F5A9AA18}"/>
              </a:ext>
            </a:extLst>
          </p:cNvPr>
          <p:cNvSpPr/>
          <p:nvPr/>
        </p:nvSpPr>
        <p:spPr>
          <a:xfrm>
            <a:off x="4267200" y="3321389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0E86579-6846-4B69-9162-6772AC5DC0A6}"/>
              </a:ext>
            </a:extLst>
          </p:cNvPr>
          <p:cNvSpPr/>
          <p:nvPr/>
        </p:nvSpPr>
        <p:spPr>
          <a:xfrm>
            <a:off x="6400800" y="3298370"/>
            <a:ext cx="685800" cy="7088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D6E19AC-247F-44C0-9B4C-6F8C4BCF3388}"/>
              </a:ext>
            </a:extLst>
          </p:cNvPr>
          <p:cNvCxnSpPr>
            <a:stCxn id="20" idx="4"/>
            <a:endCxn id="22" idx="0"/>
          </p:cNvCxnSpPr>
          <p:nvPr/>
        </p:nvCxnSpPr>
        <p:spPr>
          <a:xfrm>
            <a:off x="4610100" y="2764970"/>
            <a:ext cx="0" cy="5564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8BD7F76-D868-4972-8D91-D8A405EFBD2F}"/>
              </a:ext>
            </a:extLst>
          </p:cNvPr>
          <p:cNvCxnSpPr>
            <a:endCxn id="23" idx="2"/>
          </p:cNvCxnSpPr>
          <p:nvPr/>
        </p:nvCxnSpPr>
        <p:spPr>
          <a:xfrm>
            <a:off x="4953000" y="3603170"/>
            <a:ext cx="1447800" cy="496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9897AA7-0E55-414D-AA04-A5B79A7348DC}"/>
              </a:ext>
            </a:extLst>
          </p:cNvPr>
          <p:cNvCxnSpPr>
            <a:cxnSpLocks/>
            <a:stCxn id="21" idx="4"/>
          </p:cNvCxnSpPr>
          <p:nvPr/>
        </p:nvCxnSpPr>
        <p:spPr>
          <a:xfrm>
            <a:off x="6591300" y="2764970"/>
            <a:ext cx="1" cy="533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70236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CE8CD-EE1D-40EB-A7E4-D6011E71E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Is this spanning tree?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6014AD7-F8EF-4D7D-90DD-13617F51FCA5}"/>
              </a:ext>
            </a:extLst>
          </p:cNvPr>
          <p:cNvSpPr/>
          <p:nvPr/>
        </p:nvSpPr>
        <p:spPr>
          <a:xfrm>
            <a:off x="1295400" y="19812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8777ADF-25A4-4A3B-8A42-0C0AEA07B2F7}"/>
              </a:ext>
            </a:extLst>
          </p:cNvPr>
          <p:cNvSpPr/>
          <p:nvPr/>
        </p:nvSpPr>
        <p:spPr>
          <a:xfrm>
            <a:off x="3276600" y="19812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716379C-4572-463B-9871-26DE1B4DA4E8}"/>
              </a:ext>
            </a:extLst>
          </p:cNvPr>
          <p:cNvSpPr/>
          <p:nvPr/>
        </p:nvSpPr>
        <p:spPr>
          <a:xfrm>
            <a:off x="1295400" y="3223419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051975C-1866-4A02-BDA0-437FFB3188AF}"/>
              </a:ext>
            </a:extLst>
          </p:cNvPr>
          <p:cNvSpPr/>
          <p:nvPr/>
        </p:nvSpPr>
        <p:spPr>
          <a:xfrm>
            <a:off x="3429000" y="3200400"/>
            <a:ext cx="685800" cy="7088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EF9882C-358B-4DC6-9DBD-2A38B245987A}"/>
              </a:ext>
            </a:extLst>
          </p:cNvPr>
          <p:cNvCxnSpPr/>
          <p:nvPr/>
        </p:nvCxnSpPr>
        <p:spPr>
          <a:xfrm>
            <a:off x="1981200" y="2286000"/>
            <a:ext cx="1295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E9104BB-40A0-4FCA-A5F9-45E9992C06A0}"/>
              </a:ext>
            </a:extLst>
          </p:cNvPr>
          <p:cNvCxnSpPr>
            <a:stCxn id="4" idx="4"/>
            <a:endCxn id="6" idx="0"/>
          </p:cNvCxnSpPr>
          <p:nvPr/>
        </p:nvCxnSpPr>
        <p:spPr>
          <a:xfrm>
            <a:off x="1638300" y="2667000"/>
            <a:ext cx="0" cy="5564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EB425FD-1602-4427-A1BD-6176D3103AF8}"/>
              </a:ext>
            </a:extLst>
          </p:cNvPr>
          <p:cNvCxnSpPr>
            <a:cxnSpLocks/>
            <a:endCxn id="6" idx="7"/>
          </p:cNvCxnSpPr>
          <p:nvPr/>
        </p:nvCxnSpPr>
        <p:spPr>
          <a:xfrm flipH="1">
            <a:off x="1880767" y="2438400"/>
            <a:ext cx="1395834" cy="8854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37823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E9BBD2-0F05-4C82-85BE-489402F7B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1148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For complete graph, to find out total no. of spanning tree use this formula:</a:t>
            </a:r>
          </a:p>
          <a:p>
            <a:pPr marL="0" indent="0">
              <a:buNone/>
            </a:pPr>
            <a:r>
              <a:rPr lang="en-US" dirty="0"/>
              <a:t>n</a:t>
            </a:r>
            <a:r>
              <a:rPr lang="en-US" baseline="30000" dirty="0"/>
              <a:t>n-2</a:t>
            </a:r>
            <a:r>
              <a:rPr lang="en-US" dirty="0"/>
              <a:t>, where n= no. of vertex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8E92F59-D7C2-4C7E-BC36-074B3BF4FBC4}"/>
              </a:ext>
            </a:extLst>
          </p:cNvPr>
          <p:cNvSpPr/>
          <p:nvPr/>
        </p:nvSpPr>
        <p:spPr>
          <a:xfrm>
            <a:off x="838200" y="36576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7B91CD0-8364-40F2-BF6C-A4A8728A8536}"/>
              </a:ext>
            </a:extLst>
          </p:cNvPr>
          <p:cNvSpPr/>
          <p:nvPr/>
        </p:nvSpPr>
        <p:spPr>
          <a:xfrm>
            <a:off x="2819400" y="36576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F005C26-A786-45BF-ADA4-C923C9DBD52C}"/>
              </a:ext>
            </a:extLst>
          </p:cNvPr>
          <p:cNvSpPr/>
          <p:nvPr/>
        </p:nvSpPr>
        <p:spPr>
          <a:xfrm>
            <a:off x="838200" y="4899819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6861EC9-A0A4-4282-96AA-381A9D221FD4}"/>
              </a:ext>
            </a:extLst>
          </p:cNvPr>
          <p:cNvSpPr/>
          <p:nvPr/>
        </p:nvSpPr>
        <p:spPr>
          <a:xfrm>
            <a:off x="2971800" y="4876800"/>
            <a:ext cx="685800" cy="7088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4A8066F-C54C-4800-9AA1-6C90908CD0A3}"/>
              </a:ext>
            </a:extLst>
          </p:cNvPr>
          <p:cNvCxnSpPr/>
          <p:nvPr/>
        </p:nvCxnSpPr>
        <p:spPr>
          <a:xfrm>
            <a:off x="1524000" y="3962400"/>
            <a:ext cx="1295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8357C4-666F-441C-8E75-D8AD95A31AE5}"/>
              </a:ext>
            </a:extLst>
          </p:cNvPr>
          <p:cNvCxnSpPr>
            <a:stCxn id="4" idx="4"/>
            <a:endCxn id="6" idx="0"/>
          </p:cNvCxnSpPr>
          <p:nvPr/>
        </p:nvCxnSpPr>
        <p:spPr>
          <a:xfrm>
            <a:off x="1181100" y="4343400"/>
            <a:ext cx="0" cy="5564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B927BF1-52F5-4B43-91CD-C71541867EF8}"/>
              </a:ext>
            </a:extLst>
          </p:cNvPr>
          <p:cNvCxnSpPr>
            <a:endCxn id="7" idx="2"/>
          </p:cNvCxnSpPr>
          <p:nvPr/>
        </p:nvCxnSpPr>
        <p:spPr>
          <a:xfrm>
            <a:off x="1524000" y="5181600"/>
            <a:ext cx="1447800" cy="496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D545A1D-528D-4F93-A0D3-8C84354AD225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3162300" y="4343400"/>
            <a:ext cx="1" cy="533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296A406-6BFA-43C5-AED1-83031908C299}"/>
              </a:ext>
            </a:extLst>
          </p:cNvPr>
          <p:cNvCxnSpPr>
            <a:stCxn id="4" idx="5"/>
            <a:endCxn id="7" idx="1"/>
          </p:cNvCxnSpPr>
          <p:nvPr/>
        </p:nvCxnSpPr>
        <p:spPr>
          <a:xfrm>
            <a:off x="1423567" y="4242967"/>
            <a:ext cx="1648666" cy="7376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8A299F1-EF53-4C7C-B7ED-65E194DE39CE}"/>
              </a:ext>
            </a:extLst>
          </p:cNvPr>
          <p:cNvCxnSpPr>
            <a:stCxn id="5" idx="3"/>
            <a:endCxn id="6" idx="7"/>
          </p:cNvCxnSpPr>
          <p:nvPr/>
        </p:nvCxnSpPr>
        <p:spPr>
          <a:xfrm flipH="1">
            <a:off x="1423567" y="4242967"/>
            <a:ext cx="1496266" cy="7572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F371620-DF2F-40D8-93E4-1B01BD95AADB}"/>
              </a:ext>
            </a:extLst>
          </p:cNvPr>
          <p:cNvSpPr txBox="1"/>
          <p:nvPr/>
        </p:nvSpPr>
        <p:spPr>
          <a:xfrm>
            <a:off x="3605633" y="3780471"/>
            <a:ext cx="507212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>
                <a:solidFill>
                  <a:srgbClr val="737373"/>
                </a:solidFill>
                <a:effectLst/>
                <a:latin typeface="+mj-lt"/>
              </a:rPr>
              <a:t>A complete graph is a graph in which every vertex has an edge to all other vertices is called a complete graph, In other words, each pair of graph vertices is connected by an edge.</a:t>
            </a:r>
            <a:endParaRPr lang="en-US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471344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E910B-859E-468C-B015-D6CCEB5F3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br>
              <a:rPr lang="en-US" b="0" i="0" dirty="0">
                <a:solidFill>
                  <a:srgbClr val="610B4B"/>
                </a:solidFill>
                <a:effectLst/>
                <a:latin typeface="erdana"/>
              </a:rPr>
            </a:br>
            <a:r>
              <a:rPr lang="en-US" b="0" i="0" dirty="0">
                <a:solidFill>
                  <a:srgbClr val="610B4B"/>
                </a:solidFill>
                <a:effectLst/>
                <a:latin typeface="erdana"/>
              </a:rPr>
              <a:t>Minimum Spanning Trees</a:t>
            </a:r>
            <a:br>
              <a:rPr lang="en-US" b="0" i="0" dirty="0">
                <a:solidFill>
                  <a:srgbClr val="610B4B"/>
                </a:solidFill>
                <a:effectLst/>
                <a:latin typeface="erdana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33B00-148C-45E5-9896-5EF9B20ED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 minimum spanning tree is the tree whose sum of the edge weights is minimum. 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64E74D-901F-404D-AA40-9C333FF5A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3429000"/>
            <a:ext cx="3790420" cy="2624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3864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panning Tree">
            <a:extLst>
              <a:ext uri="{FF2B5EF4-FFF2-40B4-BE49-F238E27FC236}">
                <a16:creationId xmlns:a16="http://schemas.microsoft.com/office/drawing/2014/main" id="{BA4E6D9F-C058-446B-837A-42F06BABEC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078103"/>
            <a:ext cx="7162800" cy="5109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99760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76255B6-F4CB-48AB-B494-77A0FDC39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876300"/>
            <a:ext cx="7239000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5722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D9762-956D-41FC-BF6D-AA23B1B52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C2FB6-A4C0-4EFE-9A91-7C407A64E9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3291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3933825"/>
            <a:ext cx="7154862" cy="1476375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>
                <a:solidFill>
                  <a:srgbClr val="C00000"/>
                </a:solidFill>
              </a:rPr>
              <a:t> </a:t>
            </a:r>
            <a:r>
              <a:rPr lang="en-US" sz="3200" b="1" dirty="0">
                <a:solidFill>
                  <a:srgbClr val="C00000"/>
                </a:solidFill>
              </a:rPr>
              <a:t>Any query </a:t>
            </a:r>
            <a:br>
              <a:rPr lang="en-US" sz="3600" dirty="0">
                <a:solidFill>
                  <a:srgbClr val="C00000"/>
                </a:solidFill>
              </a:rPr>
            </a:br>
            <a:endParaRPr lang="en-IN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755650" y="4076700"/>
            <a:ext cx="7056438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aphicFrame>
        <p:nvGraphicFramePr>
          <p:cNvPr id="37892" name="Object 4"/>
          <p:cNvGraphicFramePr>
            <a:graphicFrameLocks noChangeAspect="1"/>
          </p:cNvGraphicFramePr>
          <p:nvPr/>
        </p:nvGraphicFramePr>
        <p:xfrm>
          <a:off x="7391400" y="85725"/>
          <a:ext cx="1676400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3937020" imgH="5409524" progId="">
                  <p:embed/>
                </p:oleObj>
              </mc:Choice>
              <mc:Fallback>
                <p:oleObj r:id="rId2" imgW="13937020" imgH="5409524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0" y="85725"/>
                        <a:ext cx="1676400" cy="679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7893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636588"/>
            <a:ext cx="1808163" cy="3297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1952625" y="5957888"/>
            <a:ext cx="7156450" cy="1143000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fontAlgn="auto">
              <a:spcAft>
                <a:spcPts val="0"/>
              </a:spcAft>
              <a:defRPr/>
            </a:pPr>
            <a:endParaRPr lang="en-IN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7906536"/>
      </p:ext>
    </p:extLst>
  </p:cSld>
  <p:clrMapOvr>
    <a:masterClrMapping/>
  </p:clrMapOvr>
</p:sld>
</file>

<file path=ppt/theme/theme1.xml><?xml version="1.0" encoding="utf-8"?>
<a:theme xmlns:a="http://schemas.openxmlformats.org/drawingml/2006/main" name="Lpu theme final with copyright(S)">
  <a:themeElements>
    <a:clrScheme name="Custom 1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009DD9"/>
      </a:accent4>
      <a:accent5>
        <a:srgbClr val="009DD9"/>
      </a:accent5>
      <a:accent6>
        <a:srgbClr val="009DD9"/>
      </a:accent6>
      <a:hlink>
        <a:srgbClr val="009DD9"/>
      </a:hlink>
      <a:folHlink>
        <a:srgbClr val="85DF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Lpu theme final with copyright(S)</Template>
  <TotalTime>5377</TotalTime>
  <Words>267</Words>
  <Application>Microsoft Office PowerPoint</Application>
  <PresentationFormat>On-screen Show (4:3)</PresentationFormat>
  <Paragraphs>54</Paragraphs>
  <Slides>19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Arial Rounded MT Bold</vt:lpstr>
      <vt:lpstr>Calibri</vt:lpstr>
      <vt:lpstr>Courier New</vt:lpstr>
      <vt:lpstr>erdana</vt:lpstr>
      <vt:lpstr>verdana</vt:lpstr>
      <vt:lpstr>Wingdings</vt:lpstr>
      <vt:lpstr>Lpu theme final with copyright(S)</vt:lpstr>
      <vt:lpstr>CAP770 ADVANCED DATA STRUCTURES</vt:lpstr>
      <vt:lpstr>Graph Representation </vt:lpstr>
      <vt:lpstr>connected components </vt:lpstr>
      <vt:lpstr> Graph Representation </vt:lpstr>
      <vt:lpstr> Adjacency matrix </vt:lpstr>
      <vt:lpstr>PowerPoint Presentation</vt:lpstr>
      <vt:lpstr> Linked Representation </vt:lpstr>
      <vt:lpstr>PowerPoint Presentation</vt:lpstr>
      <vt:lpstr>PowerPoint Presentation</vt:lpstr>
      <vt:lpstr>Spanning Tree</vt:lpstr>
      <vt:lpstr>PowerPoint Presentation</vt:lpstr>
      <vt:lpstr>PowerPoint Presentation</vt:lpstr>
      <vt:lpstr>Is this spanning tree?</vt:lpstr>
      <vt:lpstr>PowerPoint Presentation</vt:lpstr>
      <vt:lpstr> Minimum Spanning Trees </vt:lpstr>
      <vt:lpstr>PowerPoint Presentation</vt:lpstr>
      <vt:lpstr>PowerPoint Presentation</vt:lpstr>
      <vt:lpstr>PowerPoint Presentation</vt:lpstr>
      <vt:lpstr> Any query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sanjeev</dc:creator>
  <cp:lastModifiedBy>kumar vishal</cp:lastModifiedBy>
  <cp:revision>179</cp:revision>
  <dcterms:created xsi:type="dcterms:W3CDTF">2014-05-25T11:13:57Z</dcterms:created>
  <dcterms:modified xsi:type="dcterms:W3CDTF">2021-04-18T21:18:53Z</dcterms:modified>
</cp:coreProperties>
</file>